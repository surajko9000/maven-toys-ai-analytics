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D0D5DD"/>
            </a:solidFill>
          </c:spPr>
          <c:dPt>
            <c:idx val="1"/>
            <c:spPr>
              <a:solidFill>
                <a:srgbClr val="1BAF7A"/>
              </a:solidFill>
            </c:spPr>
          </c:dPt>
          <c:cat>
            <c:strRef>
              <c:f>Sheet1!$A$2:$A$6</c:f>
              <c:strCache>
                <c:ptCount val="5"/>
                <c:pt idx="0">
                  <c:v>Colorbuds</c:v>
                </c:pt>
                <c:pt idx="1">
                  <c:v>Playfoam</c:v>
                </c:pt>
                <c:pt idx="2">
                  <c:v>Lego Bricks</c:v>
                </c:pt>
                <c:pt idx="3">
                  <c:v>Action Figure</c:v>
                </c:pt>
                <c:pt idx="4">
                  <c:v>Nerf Gun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30416.0</c:v>
                </c:pt>
                <c:pt idx="1">
                  <c:v>28378.0</c:v>
                </c:pt>
                <c:pt idx="2">
                  <c:v>15625.0</c:v>
                </c:pt>
                <c:pt idx="3">
                  <c:v>13908.0</c:v>
                </c:pt>
                <c:pt idx="4">
                  <c:v>12914.999999999995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20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600">
                <a:solidFill>
                  <a:srgbClr val="1B273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7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Weekly sales have held at roughly 600-720 units for six straight full weeks (no cooling yet); the August-to-September monthly jump is mostly a longer month, so do not call it growth.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Estimated profit, first six full weeks (Aug 20 - Sep 30): Playfoam $28K vs Colorbuds $30K, #2 of 35 toys, and #1 in 2 of the 6 weeks. Weekly units were flat at about 680 ([718, 722, 646, 688, 679, 601]): steady, not rising or fading yet.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that have zero, and keep every store above about two weeks of sales (roughly 26 units a store); check weekly. Each store sells about 57 Playfoam units a month at $7 profit, so 13 stores is about $5K a month. 2) Test a Colorbuds fix: the options to try are new colors, a bundle with Gamer Headphones, or a better shelf spot. Run it in 10 stores and compare against 10 similar stores that change nothing, for about six weeks, so we learn what works before spending chain-wide. Winning back a quarter of the lost sales (about $44K a month lost, so about $11K) is the prize if it works. 3) Review at week 8: if the pilot stores sold about 15% more Colorbuds than the comparison stores, scale the fix; if not, stop. Also check whether Playfoam is holding its weekly sales, and pick the next newer, higher-margin toy to back.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Image panel"/>
          <p:cNvSpPr/>
          <p:nvPr/>
        </p:nvSpPr>
        <p:spPr>
          <a:xfrm>
            <a:off x="7772400" y="1371600"/>
            <a:ext cx="3867912" cy="3867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554480"/>
            <a:ext cx="3502152" cy="3502152"/>
          </a:xfrm>
          <a:prstGeom prst="rect">
            <a:avLst/>
          </a:prstGeom>
        </p:spPr>
      </p:pic>
      <p:sp>
        <p:nvSpPr>
          <p:cNvPr id="8" name="Title"/>
          <p:cNvSpPr txBox="1"/>
          <p:nvPr/>
        </p:nvSpPr>
        <p:spPr>
          <a:xfrm>
            <a:off x="548640" y="1463040"/>
            <a:ext cx="7223760" cy="24688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Colorbuds, our #1 profit toy,</a:t>
            </a:r>
            <a:br/>
            <a:r>
              <a:rPr sz="4000" b="1">
                <a:solidFill>
                  <a:srgbClr val="FFFFFF"/>
                </a:solidFill>
                <a:latin typeface="Cambria"/>
              </a:rPr>
              <a:t>is in decline</a:t>
            </a:r>
          </a:p>
        </p:txBody>
      </p:sp>
      <p:sp>
        <p:nvSpPr>
          <p:cNvPr id="9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A plan to protect profit by backing newer, higher-margin toys</a:t>
            </a:r>
          </a:p>
        </p:txBody>
      </p:sp>
      <p:sp>
        <p:nvSpPr>
          <p:cNvPr id="10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PLAYFOAM'S RANK AMONG ALL TOYS BY PROFIT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#2 of 35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Behind only Colorbuds, in its first six full weeks on sale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launched in mid-August and is already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#2 profit toy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earns about </a:t>
            </a:r>
            <a:r>
              <a:rPr sz="2000" b="1">
                <a:solidFill>
                  <a:srgbClr val="1B2733"/>
                </a:solidFill>
                <a:latin typeface="Calibri"/>
              </a:rPr>
              <a:t>$20K a month</a:t>
            </a:r>
            <a:r>
              <a:rPr sz="2000" b="0">
                <a:solidFill>
                  <a:srgbClr val="1B2733"/>
                </a:solidFill>
                <a:latin typeface="Calibri"/>
              </a:rPr>
              <a:t>, nearly half of the $44K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but 13 empty stores are costing us about $5K a month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ESTIMATED PROFIT BY TOY, LAST SIX FULL WEEKS (AUG 20 - SEP 30)</a:t>
            </a:r>
          </a:p>
        </p:txBody>
      </p:sp>
      <p:graphicFrame>
        <p:nvGraphicFramePr>
          <p:cNvPr id="6" name="Top 5 toys by profit since Playfoam launched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about $5K a month left on the table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1">
                <a:solidFill>
                  <a:srgbClr val="1B2733"/>
                </a:solidFill>
                <a:latin typeface="Calibri"/>
              </a:rPr>
              <a:t>#1 profit toy in 2 of 6 weeks</a:t>
            </a:r>
            <a:r>
              <a:rPr sz="1800" b="0">
                <a:solidFill>
                  <a:srgbClr val="1B2733"/>
                </a:solidFill>
                <a:latin typeface="Calibri"/>
              </a:rPr>
              <a:t>, ahead of Colorbuds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Next 8 weeks: keep Playfoam on shelves, test a Colorbuds fix, then back what works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3515258" cy="44348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1920240"/>
            <a:ext cx="548640" cy="54864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Restock Playfoam</a:t>
            </a:r>
          </a:p>
        </p:txBody>
      </p:sp>
      <p:sp>
        <p:nvSpPr>
          <p:cNvPr id="8" name="Goal 1"/>
          <p:cNvSpPr txBox="1"/>
          <p:nvPr/>
        </p:nvSpPr>
        <p:spPr>
          <a:xfrm>
            <a:off x="914400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8F63"/>
                </a:solidFill>
                <a:latin typeface="Calibri"/>
              </a:rPr>
              <a:t>Goal: stop losing Playfoam sales to empty shelves</a:t>
            </a:r>
          </a:p>
        </p:txBody>
      </p:sp>
      <p:sp>
        <p:nvSpPr>
          <p:cNvPr id="9" name="Step 1 details"/>
          <p:cNvSpPr txBox="1"/>
          <p:nvPr/>
        </p:nvSpPr>
        <p:spPr>
          <a:xfrm>
            <a:off x="914400" y="3840480"/>
            <a:ext cx="2783738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Refill the </a:t>
            </a:r>
            <a:r>
              <a:rPr sz="1500" b="1">
                <a:solidFill>
                  <a:srgbClr val="1B2733"/>
                </a:solidFill>
                <a:latin typeface="Calibri"/>
              </a:rPr>
              <a:t>13 stores</a:t>
            </a:r>
            <a:r>
              <a:rPr sz="1500" b="0">
                <a:solidFill>
                  <a:srgbClr val="1B2733"/>
                </a:solidFill>
                <a:latin typeface="Calibri"/>
              </a:rPr>
              <a:t> that have none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Gain: about </a:t>
            </a:r>
            <a:r>
              <a:rPr sz="1500" b="1">
                <a:solidFill>
                  <a:srgbClr val="1B2733"/>
                </a:solidFill>
                <a:latin typeface="Calibri"/>
              </a:rPr>
              <a:t>$5K more profit a month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stock </a:t>
            </a:r>
            <a:r>
              <a:rPr sz="1500" b="1">
                <a:solidFill>
                  <a:srgbClr val="1B2733"/>
                </a:solidFill>
                <a:latin typeface="Calibri"/>
              </a:rPr>
              <a:t>every week</a:t>
            </a:r>
          </a:p>
        </p:txBody>
      </p:sp>
      <p:sp>
        <p:nvSpPr>
          <p:cNvPr id="10" name="Panel 2"/>
          <p:cNvSpPr/>
          <p:nvPr/>
        </p:nvSpPr>
        <p:spPr>
          <a:xfrm>
            <a:off x="4338218" y="1691640"/>
            <a:ext cx="3515258" cy="44348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mber 2"/>
          <p:cNvSpPr/>
          <p:nvPr/>
        </p:nvSpPr>
        <p:spPr>
          <a:xfrm>
            <a:off x="4703978" y="1920240"/>
            <a:ext cx="548640" cy="54864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4703978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Test a Colorbuds fix</a:t>
            </a:r>
          </a:p>
        </p:txBody>
      </p:sp>
      <p:sp>
        <p:nvSpPr>
          <p:cNvPr id="13" name="Goal 2"/>
          <p:cNvSpPr txBox="1"/>
          <p:nvPr/>
        </p:nvSpPr>
        <p:spPr>
          <a:xfrm>
            <a:off x="4703978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6336C"/>
                </a:solidFill>
                <a:latin typeface="Calibri"/>
              </a:rPr>
              <a:t>Goal: win back some of the lost Colorbuds sales</a:t>
            </a:r>
          </a:p>
        </p:txBody>
      </p:sp>
      <p:sp>
        <p:nvSpPr>
          <p:cNvPr id="14" name="Step 2 details"/>
          <p:cNvSpPr txBox="1"/>
          <p:nvPr/>
        </p:nvSpPr>
        <p:spPr>
          <a:xfrm>
            <a:off x="4703978" y="3840480"/>
            <a:ext cx="2783738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Try </a:t>
            </a:r>
            <a:r>
              <a:rPr sz="1500" b="1">
                <a:solidFill>
                  <a:srgbClr val="1B2733"/>
                </a:solidFill>
                <a:latin typeface="Calibri"/>
              </a:rPr>
              <a:t>new colors</a:t>
            </a:r>
            <a:r>
              <a:rPr sz="1500" b="0">
                <a:solidFill>
                  <a:srgbClr val="1B2733"/>
                </a:solidFill>
                <a:latin typeface="Calibri"/>
              </a:rPr>
              <a:t>, a </a:t>
            </a:r>
            <a:r>
              <a:rPr sz="1500" b="1">
                <a:solidFill>
                  <a:srgbClr val="1B2733"/>
                </a:solidFill>
                <a:latin typeface="Calibri"/>
              </a:rPr>
              <a:t>bundle with Gamer Headphones</a:t>
            </a:r>
            <a:r>
              <a:rPr sz="1500" b="0">
                <a:solidFill>
                  <a:srgbClr val="1B2733"/>
                </a:solidFill>
                <a:latin typeface="Calibri"/>
              </a:rPr>
              <a:t>, or a </a:t>
            </a:r>
            <a:r>
              <a:rPr sz="1500" b="1">
                <a:solidFill>
                  <a:srgbClr val="1B2733"/>
                </a:solidFill>
                <a:latin typeface="Calibri"/>
              </a:rPr>
              <a:t>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Pilot in </a:t>
            </a:r>
            <a:r>
              <a:rPr sz="1500" b="1">
                <a:solidFill>
                  <a:srgbClr val="1B2733"/>
                </a:solidFill>
                <a:latin typeface="Calibri"/>
              </a:rPr>
              <a:t>10 stores</a:t>
            </a:r>
            <a:r>
              <a:rPr sz="1500" b="0">
                <a:solidFill>
                  <a:srgbClr val="1B2733"/>
                </a:solidFill>
                <a:latin typeface="Calibri"/>
              </a:rPr>
              <a:t> vs 10 similar stores that change nothing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Prize: a quarter of lost sales back is </a:t>
            </a:r>
            <a:r>
              <a:rPr sz="1500" b="1">
                <a:solidFill>
                  <a:srgbClr val="1B2733"/>
                </a:solidFill>
                <a:latin typeface="Calibri"/>
              </a:rPr>
              <a:t>$11K more profit a month</a:t>
            </a:r>
          </a:p>
        </p:txBody>
      </p:sp>
      <p:sp>
        <p:nvSpPr>
          <p:cNvPr id="15" name="Panel 3"/>
          <p:cNvSpPr/>
          <p:nvPr/>
        </p:nvSpPr>
        <p:spPr>
          <a:xfrm>
            <a:off x="8127796" y="1691640"/>
            <a:ext cx="3515258" cy="44348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mber 3"/>
          <p:cNvSpPr/>
          <p:nvPr/>
        </p:nvSpPr>
        <p:spPr>
          <a:xfrm>
            <a:off x="8493556" y="1920240"/>
            <a:ext cx="548640" cy="5486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Step 3"/>
          <p:cNvSpPr txBox="1"/>
          <p:nvPr/>
        </p:nvSpPr>
        <p:spPr>
          <a:xfrm>
            <a:off x="8493556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8" name="Goal 3"/>
          <p:cNvSpPr txBox="1"/>
          <p:nvPr/>
        </p:nvSpPr>
        <p:spPr>
          <a:xfrm>
            <a:off x="8493556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A78D6"/>
                </a:solidFill>
                <a:latin typeface="Calibri"/>
              </a:rPr>
              <a:t>Goal: put effort behind what works</a:t>
            </a:r>
          </a:p>
        </p:txBody>
      </p:sp>
      <p:sp>
        <p:nvSpPr>
          <p:cNvPr id="19" name="Step 3 details"/>
          <p:cNvSpPr txBox="1"/>
          <p:nvPr/>
        </p:nvSpPr>
        <p:spPr>
          <a:xfrm>
            <a:off x="8493556" y="3840480"/>
            <a:ext cx="2783738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1">
                <a:solidFill>
                  <a:srgbClr val="1B2733"/>
                </a:solidFill>
                <a:latin typeface="Calibri"/>
              </a:rPr>
              <a:t>Scale</a:t>
            </a:r>
            <a:r>
              <a:rPr sz="1500" b="0">
                <a:solidFill>
                  <a:srgbClr val="1B2733"/>
                </a:solidFill>
                <a:latin typeface="Calibri"/>
              </a:rPr>
              <a:t> the Colorbuds fix if pilot stores sold </a:t>
            </a:r>
            <a:r>
              <a:rPr sz="1500" b="1">
                <a:solidFill>
                  <a:srgbClr val="1B2733"/>
                </a:solidFill>
                <a:latin typeface="Calibri"/>
              </a:rPr>
              <a:t>15% more</a:t>
            </a:r>
            <a:r>
              <a:rPr sz="1500" b="0">
                <a:solidFill>
                  <a:srgbClr val="1B2733"/>
                </a:solidFill>
                <a:latin typeface="Calibri"/>
              </a:rPr>
              <a:t>, otherwise stop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whether </a:t>
            </a:r>
            <a:r>
              <a:rPr sz="1500" b="1">
                <a:solidFill>
                  <a:srgbClr val="1B2733"/>
                </a:solidFill>
                <a:latin typeface="Calibri"/>
              </a:rPr>
              <a:t>Playfoam is holding up</a:t>
            </a:r>
            <a:r>
              <a:rPr sz="1500" b="0">
                <a:solidFill>
                  <a:srgbClr val="1B2733"/>
                </a:solidFill>
                <a:latin typeface="Calibri"/>
              </a:rPr>
              <a:t> or cooling off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Pick the next </a:t>
            </a:r>
            <a:r>
              <a:rPr sz="1500" b="1">
                <a:solidFill>
                  <a:srgbClr val="1B2733"/>
                </a:solidFill>
                <a:latin typeface="Calibri"/>
              </a:rPr>
              <a:t>higher-margin toy</a:t>
            </a:r>
            <a:r>
              <a:rPr sz="1500" b="0">
                <a:solidFill>
                  <a:srgbClr val="1B2733"/>
                </a:solidFill>
                <a:latin typeface="Calibri"/>
              </a:rPr>
              <a:t> to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