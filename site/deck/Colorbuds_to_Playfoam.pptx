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Sheet1!$A$2:$A$7</c:f>
              <c:strCache>
                <c:ptCount val="6"/>
                <c:pt idx="0">
                  <c:v>Aug 20</c:v>
                </c:pt>
                <c:pt idx="1">
                  <c:v>Aug 27</c:v>
                </c:pt>
                <c:pt idx="2">
                  <c:v>Sep 3</c:v>
                </c:pt>
                <c:pt idx="3">
                  <c:v>Sep 10</c:v>
                </c:pt>
                <c:pt idx="4">
                  <c:v>Sep 17</c:v>
                </c:pt>
                <c:pt idx="5">
                  <c:v>Sep 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718</c:v>
                </c:pt>
                <c:pt idx="1">
                  <c:v>722</c:v>
                </c:pt>
                <c:pt idx="2">
                  <c:v>646</c:v>
                </c:pt>
                <c:pt idx="3">
                  <c:v>688</c:v>
                </c:pt>
                <c:pt idx="4">
                  <c:v>679</c:v>
                </c:pt>
                <c:pt idx="5">
                  <c:v>601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400">
                <a:solidFill>
                  <a:srgbClr val="5B647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8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Full weeks since launch: [718, 722, 646, 688, 679, 601], so demand is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a Colorbuds refresh: the options to try are new colors, a bundle with Gamer Headphones, or a better shelf spot,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$20K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~680 units a week, six weeks running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launched in mid-August and is already a </a:t>
            </a:r>
            <a:r>
              <a:rPr sz="2000" b="1">
                <a:solidFill>
                  <a:srgbClr val="1B2733"/>
                </a:solidFill>
                <a:latin typeface="Calibri"/>
              </a:rPr>
              <a:t>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Playfoam's September pace is </a:t>
            </a:r>
            <a:r>
              <a:rPr sz="2000" b="1">
                <a:solidFill>
                  <a:srgbClr val="1B2733"/>
                </a:solidFill>
                <a:latin typeface="Calibri"/>
              </a:rPr>
              <a:t>nearly half</a:t>
            </a:r>
            <a:r>
              <a:rPr sz="2000" b="0">
                <a:solidFill>
                  <a:srgbClr val="1B2733"/>
                </a:solidFill>
                <a:latin typeface="Calibri"/>
              </a:rPr>
              <a:t>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 UNITS SOLD PER WEEK (WEEK STARTING)</a:t>
            </a:r>
          </a:p>
        </p:txBody>
      </p:sp>
      <p:graphicFrame>
        <p:nvGraphicFramePr>
          <p:cNvPr id="6" name="Playfoam weekly units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~680 units a week</a:t>
            </a:r>
            <a:r>
              <a:rPr sz="1800" b="0">
                <a:solidFill>
                  <a:srgbClr val="1B2733"/>
                </a:solidFill>
                <a:latin typeface="Calibri"/>
              </a:rPr>
              <a:t>, every week since launch, with no cooling yet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We recommend three moves: back newer, higher-margin toys, test a Colorbuds refresh, and review in 8 weeks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Keep Playfoam in stock</a:t>
            </a:r>
          </a:p>
        </p:txBody>
      </p:sp>
      <p:sp>
        <p:nvSpPr>
          <p:cNvPr id="8" name="Step 1 details"/>
          <p:cNvSpPr txBox="1"/>
          <p:nvPr/>
        </p:nvSpPr>
        <p:spPr>
          <a:xfrm>
            <a:off x="914400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Refill the </a:t>
            </a:r>
            <a:r>
              <a:rPr sz="1600" b="1">
                <a:solidFill>
                  <a:srgbClr val="1B2733"/>
                </a:solidFill>
                <a:latin typeface="Calibri"/>
              </a:rPr>
              <a:t>13 empty stores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Check weekly; worth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$5K a month</a:t>
            </a:r>
          </a:p>
        </p:txBody>
      </p:sp>
      <p:sp>
        <p:nvSpPr>
          <p:cNvPr id="9" name="Panel 2"/>
          <p:cNvSpPr/>
          <p:nvPr/>
        </p:nvSpPr>
        <p:spPr>
          <a:xfrm>
            <a:off x="4338218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2"/>
          <p:cNvSpPr/>
          <p:nvPr/>
        </p:nvSpPr>
        <p:spPr>
          <a:xfrm>
            <a:off x="4703978" y="2103120"/>
            <a:ext cx="640080" cy="64008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1" name="Step 2"/>
          <p:cNvSpPr txBox="1"/>
          <p:nvPr/>
        </p:nvSpPr>
        <p:spPr>
          <a:xfrm>
            <a:off x="4703978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Test a Colorbuds refresh</a:t>
            </a:r>
          </a:p>
        </p:txBody>
      </p:sp>
      <p:sp>
        <p:nvSpPr>
          <p:cNvPr id="12" name="Step 2 details"/>
          <p:cNvSpPr txBox="1"/>
          <p:nvPr/>
        </p:nvSpPr>
        <p:spPr>
          <a:xfrm>
            <a:off x="4703978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Try </a:t>
            </a:r>
            <a:r>
              <a:rPr sz="1600" b="1">
                <a:solidFill>
                  <a:srgbClr val="1B2733"/>
                </a:solidFill>
                <a:latin typeface="Calibri"/>
              </a:rPr>
              <a:t>new colors, a bundle with Gamer Headphones</a:t>
            </a:r>
            <a:r>
              <a:rPr sz="1600" b="0">
                <a:solidFill>
                  <a:srgbClr val="1B2733"/>
                </a:solidFill>
                <a:latin typeface="Calibri"/>
              </a:rPr>
              <a:t>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10 test stores</a:t>
            </a:r>
            <a:r>
              <a:rPr sz="1600" b="0">
                <a:solidFill>
                  <a:srgbClr val="1B2733"/>
                </a:solidFill>
                <a:latin typeface="Calibri"/>
              </a:rPr>
              <a:t> vs 10 similar; up to about </a:t>
            </a:r>
            <a:r>
              <a:rPr sz="1600" b="1">
                <a:solidFill>
                  <a:srgbClr val="1B2733"/>
                </a:solidFill>
                <a:latin typeface="Calibri"/>
              </a:rPr>
              <a:t>$11K a month</a:t>
            </a:r>
          </a:p>
        </p:txBody>
      </p:sp>
      <p:sp>
        <p:nvSpPr>
          <p:cNvPr id="13" name="Panel 3"/>
          <p:cNvSpPr/>
          <p:nvPr/>
        </p:nvSpPr>
        <p:spPr>
          <a:xfrm>
            <a:off x="8127796" y="1783080"/>
            <a:ext cx="3515258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3"/>
          <p:cNvSpPr/>
          <p:nvPr/>
        </p:nvSpPr>
        <p:spPr>
          <a:xfrm>
            <a:off x="8493556" y="2103120"/>
            <a:ext cx="640080" cy="6400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5" name="Step 3"/>
          <p:cNvSpPr txBox="1"/>
          <p:nvPr/>
        </p:nvSpPr>
        <p:spPr>
          <a:xfrm>
            <a:off x="8493556" y="3017520"/>
            <a:ext cx="278373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6" name="Step 3 details"/>
          <p:cNvSpPr txBox="1"/>
          <p:nvPr/>
        </p:nvSpPr>
        <p:spPr>
          <a:xfrm>
            <a:off x="8493556" y="4114800"/>
            <a:ext cx="278373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1">
                <a:solidFill>
                  <a:srgbClr val="1B2733"/>
                </a:solidFill>
                <a:latin typeface="Calibri"/>
              </a:rPr>
              <a:t>Scale what works</a:t>
            </a:r>
            <a:r>
              <a:rPr sz="1600" b="0">
                <a:solidFill>
                  <a:srgbClr val="1B2733"/>
                </a:solidFill>
                <a:latin typeface="Calibri"/>
              </a:rPr>
              <a:t>, stop what doesn't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 b="0">
                <a:solidFill>
                  <a:srgbClr val="1B2733"/>
                </a:solidFill>
                <a:latin typeface="Calibri"/>
              </a:rPr>
              <a:t>Pick the next </a:t>
            </a:r>
            <a:r>
              <a:rPr sz="1600" b="1">
                <a:solidFill>
                  <a:srgbClr val="1B2733"/>
                </a:solidFill>
                <a:latin typeface="Calibri"/>
              </a:rPr>
              <a:t>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