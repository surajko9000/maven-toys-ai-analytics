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Colorbuds units per month</c:v>
                </c:pt>
              </c:strCache>
            </c:strRef>
          </c:tx>
          <c:spPr>
            <a:ln w="63500">
              <a:solidFill>
                <a:srgbClr val="E8457B"/>
              </a:solidFill>
            </a:ln>
          </c:spPr>
          <c:marker>
            <c:symbol val="none"/>
          </c:marker>
          <c:dPt>
            <c:idx val="0"/>
            <c:marker>
              <c:symbol val="circle"/>
              <c:size val="14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Pt>
            <c:idx val="20"/>
            <c:marker>
              <c:symbol val="circle"/>
              <c:size val="14"/>
              <c:spPr>
                <a:solidFill>
                  <a:srgbClr val="E8457B"/>
                </a:solidFill>
                <a:ln>
                  <a:solidFill>
                    <a:srgbClr val="FFFFFF"/>
                  </a:solidFill>
                </a:ln>
              </c:spPr>
            </c:marke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E8457B"/>
                        </a:solidFill>
                        <a:latin typeface="Trebuchet MS"/>
                      </a:rPr>
                      <a:t>8,110</a:t>
                    </a:r>
                  </a:p>
                  <a:p>
                    <a:r>
                      <a:rPr sz="1400">
                        <a:solidFill>
                          <a:srgbClr val="6B6560"/>
                        </a:solidFill>
                        <a:latin typeface="Calibri"/>
                      </a:rPr>
                      <a:t>Jan 2022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E8457B"/>
                        </a:solidFill>
                        <a:latin typeface="Trebuchet MS"/>
                      </a:rPr>
                      <a:t>2,594</a:t>
                    </a:r>
                  </a:p>
                  <a:p>
                    <a:r>
                      <a:rPr sz="1400">
                        <a:solidFill>
                          <a:srgbClr val="6B6560"/>
                        </a:solidFill>
                        <a:latin typeface="Calibri"/>
                      </a:rPr>
                      <a:t>Sep 2023</a:t>
                    </a:r>
                  </a:p>
                </c:rich>
              </c:tx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Jan 22</c:v>
                </c:pt>
                <c:pt idx="1">
                  <c:v>  </c:v>
                </c:pt>
                <c:pt idx="2">
                  <c:v>   </c:v>
                </c:pt>
                <c:pt idx="3">
                  <c:v>    </c:v>
                </c:pt>
                <c:pt idx="4">
                  <c:v>     </c:v>
                </c:pt>
                <c:pt idx="5">
                  <c:v>      </c:v>
                </c:pt>
                <c:pt idx="6">
                  <c:v>Jul 22</c:v>
                </c:pt>
                <c:pt idx="7">
                  <c:v>        </c:v>
                </c:pt>
                <c:pt idx="8">
                  <c:v>         </c:v>
                </c:pt>
                <c:pt idx="9">
                  <c:v>          </c:v>
                </c:pt>
                <c:pt idx="10">
                  <c:v>           </c:v>
                </c:pt>
                <c:pt idx="11">
                  <c:v>            </c:v>
                </c:pt>
                <c:pt idx="12">
                  <c:v>Jan 23</c:v>
                </c:pt>
                <c:pt idx="13">
                  <c:v>              </c:v>
                </c:pt>
                <c:pt idx="14">
                  <c:v>               </c:v>
                </c:pt>
                <c:pt idx="15">
                  <c:v>                </c:v>
                </c:pt>
                <c:pt idx="16">
                  <c:v>                 </c:v>
                </c:pt>
                <c:pt idx="17">
                  <c:v>                  </c:v>
                </c:pt>
                <c:pt idx="18">
                  <c:v>Jul 23</c:v>
                </c:pt>
                <c:pt idx="19">
                  <c:v>                    </c:v>
                </c:pt>
                <c:pt idx="20">
                  <c:v>                     </c:v>
                </c:pt>
              </c:strCache>
            </c: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8110</c:v>
                </c:pt>
                <c:pt idx="1">
                  <c:v>7627</c:v>
                </c:pt>
                <c:pt idx="2">
                  <c:v>7843</c:v>
                </c:pt>
                <c:pt idx="3">
                  <c:v>7267</c:v>
                </c:pt>
                <c:pt idx="4">
                  <c:v>6974</c:v>
                </c:pt>
                <c:pt idx="5">
                  <c:v>6506</c:v>
                </c:pt>
                <c:pt idx="6">
                  <c:v>6511</c:v>
                </c:pt>
                <c:pt idx="7">
                  <c:v>6368</c:v>
                </c:pt>
                <c:pt idx="8">
                  <c:v>4931</c:v>
                </c:pt>
                <c:pt idx="9">
                  <c:v>4713</c:v>
                </c:pt>
                <c:pt idx="10">
                  <c:v>4284</c:v>
                </c:pt>
                <c:pt idx="11">
                  <c:v>4078</c:v>
                </c:pt>
                <c:pt idx="12">
                  <c:v>3666</c:v>
                </c:pt>
                <c:pt idx="13">
                  <c:v>3301</c:v>
                </c:pt>
                <c:pt idx="14">
                  <c:v>3660</c:v>
                </c:pt>
                <c:pt idx="15">
                  <c:v>3369</c:v>
                </c:pt>
                <c:pt idx="16">
                  <c:v>2795</c:v>
                </c:pt>
                <c:pt idx="17">
                  <c:v>3069</c:v>
                </c:pt>
                <c:pt idx="18">
                  <c:v>3537</c:v>
                </c:pt>
                <c:pt idx="19">
                  <c:v>3165</c:v>
                </c:pt>
                <c:pt idx="20">
                  <c:v>2594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4CC"/>
            </a:solidFill>
          </a:ln>
        </c:spPr>
        <c:txPr>
          <a:bodyPr rot="0" vert="horz"/>
          <a:lstStyle/>
          <a:p>
            <a:pPr>
              <a:defRPr sz="1400">
                <a:solidFill>
                  <a:srgbClr val="6B6560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9500.0"/>
          <c:min val="0.0"/>
        </c:scaling>
        <c:delete/>
        <c:axPos val="l"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Playfoam units</c:v>
                </c:pt>
              </c:strCache>
            </c:strRef>
          </c:tx>
          <c:spPr>
            <a:solidFill>
              <a:srgbClr val="1BAF7A"/>
            </a:solidFill>
          </c:spPr>
          <c:cat>
            <c:strRef>
              <c:f>Sheet1!$A$2:$A$3</c:f>
              <c:strCache>
                <c:ptCount val="2"/>
                <c:pt idx="0">
                  <c:v>Aug (from the 17th)</c:v>
                </c:pt>
                <c:pt idx="1">
                  <c:v>Sep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1311</c:v>
                </c:pt>
                <c:pt idx="1">
                  <c:v>2847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2800" b="1">
                  <a:solidFill>
                    <a:srgbClr val="1BAF7A"/>
                  </a:solidFill>
                  <a:latin typeface="Trebuchet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4CC"/>
            </a:solidFill>
          </a:ln>
        </c:spPr>
        <c:txPr>
          <a:bodyPr/>
          <a:lstStyle/>
          <a:p>
            <a:pPr>
              <a:defRPr sz="1600">
                <a:solidFill>
                  <a:srgbClr val="6B6560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400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one-line answer: Colorbuds, our top profit toy, is fading. The plan is simple: back newer, higher-margin toys, test one cheap fix for Colorbuds, and review in 8 weeks. Keep the intro under 20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Colorbuds earned about 28% of Q3 2022 profit and 13% of Q3 2023 profit; it is still our #1 profit toy, so it is fading, not dead. Playfoam launched in mid-August 2023; at its September pace (2,847 units x $7 profit per unit) it earns about $20K a month. Colorbuds' monthly profit is about $44K lower than in Jan 2022 ((8,110 - 2,594) units x $8). Profit is estimated from current price and cost, not accounting figures.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Monthly Colorbuds units fell from 8,110 (Jan 2022) to 2,594 (Sep 2023), down 68%. The drop is steady and broad: 48 of 50 stores are down (Jan-Sep 2023 vs Jan-Sep 2022), in every store type. All 50 stores carry it and none is at zero stock, so this looks like a demand problem, not a stock problem. Some of the drop is seasonal (company-wide revenue in Sep is about 26% below its peak month) but not most of it. The data cannot say WHY demand fell; no price history, promotions or competitor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likely explanation, not a proven cause. Of the 10 toys that started selling during this data (excluding Playfoam, which is too new), 9 now sell at least 40% less per month than in their peak month. Jenga -92%, Supersoaker -66%, Mr. Potatohead -65%, PlayDoh Playset -64%, Etch A Sketch -56%, Plush Pony -56%, Foam Disk Launcher -54%, Magic Sand -41%, Gamer Headphones -41%; Hot Wheels is the exception at -9%. Caveats: part of each drop is seasonal, and 'launch' means first sale in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Playfoam launched Aug 17, 2023 and sold 4,158 units in about six weeks (1,311 in August from the 17th, 2,847 in September). It earns $7 per unit at a 64% margin, about $20K a month at the September pace. It is at zero stock in 13 stores; each store sells about 57 units a month, so empty shelves cost roughly $5K a month. It was the #5 profit toy in Q3 2023 despite only ~6 weeks on sale. Be honest: hot now, likely to cool (see the previous slide). Only six weeks of data; the $20K is a run-rate,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Keep Playfoam in stock: refill the 13 stores at zero and keep every store above about two weeks of sales (roughly 26 units a store); check weekly. Worth about $5K a month now. 2) Test one cheap Colorbuds fix: refresh, bundle with Gamer Headphones, or better shelf placement in about 10 stores against 10 similar control stores for six weeks. Winning back a quarter of the lost sales is worth up to about $11K a month. 3) Review at week 8: if the test stores sold about 15% more Colorbuds, scale the fix; if not, stop. Pick the next newer, higher-margin toy to back at the same review. The 15% threshold is a suggestion to agree on in advance, not something from the data. Sizes are estimates; the data cannot show why Colorbuds fell.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78D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ogo block 1"/>
          <p:cNvSpPr/>
          <p:nvPr/>
        </p:nvSpPr>
        <p:spPr>
          <a:xfrm>
            <a:off x="640080" y="5760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ogo block 2"/>
          <p:cNvSpPr/>
          <p:nvPr/>
        </p:nvSpPr>
        <p:spPr>
          <a:xfrm>
            <a:off x="822959" y="5760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3"/>
          <p:cNvSpPr/>
          <p:nvPr/>
        </p:nvSpPr>
        <p:spPr>
          <a:xfrm>
            <a:off x="1005840" y="576072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FD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wordmark"/>
          <p:cNvSpPr txBox="1"/>
          <p:nvPr/>
        </p:nvSpPr>
        <p:spPr>
          <a:xfrm>
            <a:off x="1280160" y="502920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Trebuchet MS"/>
              </a:rPr>
              <a:t>Maven Toys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640080" y="2103120"/>
            <a:ext cx="7863840" cy="13716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Trebuchet MS"/>
              </a:rPr>
              <a:t>Colorbuds is fading</a:t>
            </a:r>
          </a:p>
        </p:txBody>
      </p:sp>
      <p:sp>
        <p:nvSpPr>
          <p:cNvPr id="7" name="Subtitle"/>
          <p:cNvSpPr txBox="1"/>
          <p:nvPr/>
        </p:nvSpPr>
        <p:spPr>
          <a:xfrm>
            <a:off x="640080" y="36118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0">
                <a:solidFill>
                  <a:srgbClr val="FFE08A"/>
                </a:solidFill>
                <a:latin typeface="Trebuchet MS"/>
              </a:rPr>
              <a:t>What to do next</a:t>
            </a:r>
          </a:p>
        </p:txBody>
      </p:sp>
      <p:sp>
        <p:nvSpPr>
          <p:cNvPr id="8" name="Date line"/>
          <p:cNvSpPr txBox="1"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DCE9FB"/>
                </a:solidFill>
                <a:latin typeface="Calibri"/>
              </a:rPr>
              <a:t>Business review · Data through Sep 30, 2023</a:t>
            </a:r>
          </a:p>
        </p:txBody>
      </p:sp>
      <p:sp>
        <p:nvSpPr>
          <p:cNvPr id="9" name="Block r0c0"/>
          <p:cNvSpPr/>
          <p:nvPr/>
        </p:nvSpPr>
        <p:spPr>
          <a:xfrm>
            <a:off x="8001000" y="57150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tud r0c0"/>
          <p:cNvSpPr/>
          <p:nvPr/>
        </p:nvSpPr>
        <p:spPr>
          <a:xfrm>
            <a:off x="8183879" y="5623560"/>
            <a:ext cx="347472" cy="182880"/>
          </a:xfrm>
          <a:prstGeom prst="ellipse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tud r0c0"/>
          <p:cNvSpPr/>
          <p:nvPr/>
        </p:nvSpPr>
        <p:spPr>
          <a:xfrm>
            <a:off x="8659368" y="5623560"/>
            <a:ext cx="347472" cy="182880"/>
          </a:xfrm>
          <a:prstGeom prst="ellipse">
            <a:avLst/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lock r0c1"/>
          <p:cNvSpPr/>
          <p:nvPr/>
        </p:nvSpPr>
        <p:spPr>
          <a:xfrm>
            <a:off x="9244584" y="57150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tud r0c1"/>
          <p:cNvSpPr/>
          <p:nvPr/>
        </p:nvSpPr>
        <p:spPr>
          <a:xfrm>
            <a:off x="9427463" y="5623560"/>
            <a:ext cx="347472" cy="182880"/>
          </a:xfrm>
          <a:prstGeom prst="ellipse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Stud r0c1"/>
          <p:cNvSpPr/>
          <p:nvPr/>
        </p:nvSpPr>
        <p:spPr>
          <a:xfrm>
            <a:off x="9902952" y="5623560"/>
            <a:ext cx="347472" cy="182880"/>
          </a:xfrm>
          <a:prstGeom prst="ellipse">
            <a:avLst/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lock r0c2"/>
          <p:cNvSpPr/>
          <p:nvPr/>
        </p:nvSpPr>
        <p:spPr>
          <a:xfrm>
            <a:off x="10488168" y="5715000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ud r0c2"/>
          <p:cNvSpPr/>
          <p:nvPr/>
        </p:nvSpPr>
        <p:spPr>
          <a:xfrm>
            <a:off x="10671048" y="5623560"/>
            <a:ext cx="347472" cy="18288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Stud r0c2"/>
          <p:cNvSpPr/>
          <p:nvPr/>
        </p:nvSpPr>
        <p:spPr>
          <a:xfrm>
            <a:off x="11146536" y="5623560"/>
            <a:ext cx="347472" cy="18288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Block r1c0"/>
          <p:cNvSpPr/>
          <p:nvPr/>
        </p:nvSpPr>
        <p:spPr>
          <a:xfrm>
            <a:off x="8622792" y="4928616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Stud r1c0"/>
          <p:cNvSpPr/>
          <p:nvPr/>
        </p:nvSpPr>
        <p:spPr>
          <a:xfrm>
            <a:off x="8805672" y="4837176"/>
            <a:ext cx="347472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tud r1c0"/>
          <p:cNvSpPr/>
          <p:nvPr/>
        </p:nvSpPr>
        <p:spPr>
          <a:xfrm>
            <a:off x="9281160" y="4837176"/>
            <a:ext cx="347472" cy="18288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lock r1c1"/>
          <p:cNvSpPr/>
          <p:nvPr/>
        </p:nvSpPr>
        <p:spPr>
          <a:xfrm>
            <a:off x="9866376" y="4928616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Stud r1c1"/>
          <p:cNvSpPr/>
          <p:nvPr/>
        </p:nvSpPr>
        <p:spPr>
          <a:xfrm>
            <a:off x="10049255" y="4837176"/>
            <a:ext cx="347472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ud r1c1"/>
          <p:cNvSpPr/>
          <p:nvPr/>
        </p:nvSpPr>
        <p:spPr>
          <a:xfrm>
            <a:off x="10524744" y="4837176"/>
            <a:ext cx="347472" cy="18288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lock r2c0"/>
          <p:cNvSpPr/>
          <p:nvPr/>
        </p:nvSpPr>
        <p:spPr>
          <a:xfrm>
            <a:off x="9244584" y="4142231"/>
            <a:ext cx="1188720" cy="731520"/>
          </a:xfrm>
          <a:prstGeom prst="roundRect">
            <a:avLst>
              <a:gd name="adj" fmla="val 12000"/>
            </a:avLst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Stud r2c0"/>
          <p:cNvSpPr/>
          <p:nvPr/>
        </p:nvSpPr>
        <p:spPr>
          <a:xfrm>
            <a:off x="9427463" y="4050791"/>
            <a:ext cx="347472" cy="182880"/>
          </a:xfrm>
          <a:prstGeom prst="ellipse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tud r2c0"/>
          <p:cNvSpPr/>
          <p:nvPr/>
        </p:nvSpPr>
        <p:spPr>
          <a:xfrm>
            <a:off x="9902952" y="4050791"/>
            <a:ext cx="347472" cy="182880"/>
          </a:xfrm>
          <a:prstGeom prst="ellipse">
            <a:avLst/>
          </a:prstGeom>
          <a:solidFill>
            <a:srgbClr val="6250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One toy fell. Another is rising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2</a:t>
            </a:r>
          </a:p>
        </p:txBody>
      </p:sp>
      <p:sp>
        <p:nvSpPr>
          <p:cNvPr id="9" name="Card 1"/>
          <p:cNvSpPr/>
          <p:nvPr/>
        </p:nvSpPr>
        <p:spPr>
          <a:xfrm>
            <a:off x="640080" y="1645920"/>
            <a:ext cx="5193792" cy="2606040"/>
          </a:xfrm>
          <a:prstGeom prst="roundRect">
            <a:avLst>
              <a:gd name="adj" fmla="val 7000"/>
            </a:avLst>
          </a:prstGeom>
          <a:solidFill>
            <a:srgbClr val="FCE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ig number 1"/>
          <p:cNvSpPr txBox="1"/>
          <p:nvPr/>
        </p:nvSpPr>
        <p:spPr>
          <a:xfrm>
            <a:off x="1005840" y="1828800"/>
            <a:ext cx="44805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E8457B"/>
                </a:solidFill>
                <a:latin typeface="Trebuchet MS"/>
              </a:rPr>
              <a:t>28% → 13%</a:t>
            </a:r>
          </a:p>
        </p:txBody>
      </p:sp>
      <p:sp>
        <p:nvSpPr>
          <p:cNvPr id="11" name="Label 1"/>
          <p:cNvSpPr txBox="1"/>
          <p:nvPr/>
        </p:nvSpPr>
        <p:spPr>
          <a:xfrm>
            <a:off x="1005840" y="3063240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1A17"/>
                </a:solidFill>
                <a:latin typeface="Calibri"/>
              </a:rPr>
              <a:t>Colorbuds' share of quarterly profit</a:t>
            </a:r>
          </a:p>
        </p:txBody>
      </p:sp>
      <p:sp>
        <p:nvSpPr>
          <p:cNvPr id="12" name="Caption 1"/>
          <p:cNvSpPr txBox="1"/>
          <p:nvPr/>
        </p:nvSpPr>
        <p:spPr>
          <a:xfrm>
            <a:off x="1005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560"/>
                </a:solidFill>
                <a:latin typeface="Calibri"/>
              </a:rPr>
              <a:t>Q3 2022 to Q3 2023</a:t>
            </a:r>
          </a:p>
        </p:txBody>
      </p:sp>
      <p:sp>
        <p:nvSpPr>
          <p:cNvPr id="13" name="Card 2"/>
          <p:cNvSpPr/>
          <p:nvPr/>
        </p:nvSpPr>
        <p:spPr>
          <a:xfrm>
            <a:off x="6355080" y="1645920"/>
            <a:ext cx="5193792" cy="2606040"/>
          </a:xfrm>
          <a:prstGeom prst="roundRect">
            <a:avLst>
              <a:gd name="adj" fmla="val 7000"/>
            </a:avLst>
          </a:prstGeom>
          <a:solidFill>
            <a:srgbClr val="D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ig number 2"/>
          <p:cNvSpPr txBox="1"/>
          <p:nvPr/>
        </p:nvSpPr>
        <p:spPr>
          <a:xfrm>
            <a:off x="6720840" y="1828800"/>
            <a:ext cx="4480560" cy="10515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1">
                <a:solidFill>
                  <a:srgbClr val="1BAF7A"/>
                </a:solidFill>
                <a:latin typeface="Trebuchet MS"/>
              </a:rPr>
              <a:t>$20K</a:t>
            </a:r>
          </a:p>
        </p:txBody>
      </p:sp>
      <p:sp>
        <p:nvSpPr>
          <p:cNvPr id="15" name="Label 2"/>
          <p:cNvSpPr txBox="1"/>
          <p:nvPr/>
        </p:nvSpPr>
        <p:spPr>
          <a:xfrm>
            <a:off x="6720840" y="3063240"/>
            <a:ext cx="44805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1F1A17"/>
                </a:solidFill>
                <a:latin typeface="Calibri"/>
              </a:rPr>
              <a:t>Playfoam profit per month</a:t>
            </a:r>
          </a:p>
        </p:txBody>
      </p:sp>
      <p:sp>
        <p:nvSpPr>
          <p:cNvPr id="16" name="Caption 2"/>
          <p:cNvSpPr txBox="1"/>
          <p:nvPr/>
        </p:nvSpPr>
        <p:spPr>
          <a:xfrm>
            <a:off x="6720840" y="3566160"/>
            <a:ext cx="4480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560"/>
                </a:solidFill>
                <a:latin typeface="Calibri"/>
              </a:rPr>
              <a:t>at its September pace</a:t>
            </a:r>
          </a:p>
        </p:txBody>
      </p:sp>
      <p:sp>
        <p:nvSpPr>
          <p:cNvPr id="17" name="Key points"/>
          <p:cNvSpPr txBox="1"/>
          <p:nvPr/>
        </p:nvSpPr>
        <p:spPr>
          <a:xfrm>
            <a:off x="640080" y="452628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Colorbuds is still our #1 profit toy, but its share has more than halved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Playfoam launched in mid-August and is already a top-5 profit toy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Playfoam's September pace is nearly half of the $44K a month Colorbuds has lost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Colorbuds sales are down 68%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3</a:t>
            </a:r>
          </a:p>
        </p:txBody>
      </p:sp>
      <p:graphicFrame>
        <p:nvGraphicFramePr>
          <p:cNvPr id="9" name="Colorbuds monthly units"/>
          <p:cNvGraphicFramePr>
            <a:graphicFrameLocks noGrp="1"/>
          </p:cNvGraphicFramePr>
          <p:nvPr/>
        </p:nvGraphicFramePr>
        <p:xfrm>
          <a:off x="640080" y="1874519"/>
          <a:ext cx="722376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hart caption"/>
          <p:cNvSpPr txBox="1"/>
          <p:nvPr/>
        </p:nvSpPr>
        <p:spPr>
          <a:xfrm>
            <a:off x="640080" y="155448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560"/>
                </a:solidFill>
                <a:latin typeface="Calibri"/>
              </a:rPr>
              <a:t>units per month</a:t>
            </a:r>
          </a:p>
        </p:txBody>
      </p:sp>
      <p:sp>
        <p:nvSpPr>
          <p:cNvPr id="11" name="Key points"/>
          <p:cNvSpPr txBox="1"/>
          <p:nvPr/>
        </p:nvSpPr>
        <p:spPr>
          <a:xfrm>
            <a:off x="8229600" y="2103120"/>
            <a:ext cx="33832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Down in 48 of 50 stores, in every store type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Every store still carries it, so this is weaker demand, not empty shelves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Quarterly profit has roughly halved: $142K to $74K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Most toys fade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4</a:t>
            </a:r>
          </a:p>
        </p:txBody>
      </p:sp>
      <p:sp>
        <p:nvSpPr>
          <p:cNvPr id="9" name="Big number"/>
          <p:cNvSpPr txBox="1"/>
          <p:nvPr/>
        </p:nvSpPr>
        <p:spPr>
          <a:xfrm>
            <a:off x="640080" y="1600200"/>
            <a:ext cx="585216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0" b="1">
                <a:solidFill>
                  <a:srgbClr val="EB6834"/>
                </a:solidFill>
                <a:latin typeface="Trebuchet MS"/>
              </a:rPr>
              <a:t>9 of 10</a:t>
            </a:r>
          </a:p>
        </p:txBody>
      </p:sp>
      <p:sp>
        <p:nvSpPr>
          <p:cNvPr id="10" name="Caption"/>
          <p:cNvSpPr txBox="1"/>
          <p:nvPr/>
        </p:nvSpPr>
        <p:spPr>
          <a:xfrm>
            <a:off x="640080" y="3200400"/>
            <a:ext cx="5852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0">
                <a:solidFill>
                  <a:srgbClr val="1F1A17"/>
                </a:solidFill>
                <a:latin typeface="Trebuchet MS"/>
              </a:rPr>
              <a:t>recent launches are 40%+ below their peak</a:t>
            </a:r>
          </a:p>
        </p:txBody>
      </p:sp>
      <p:sp>
        <p:nvSpPr>
          <p:cNvPr id="11" name="Toy block 1"/>
          <p:cNvSpPr/>
          <p:nvPr/>
        </p:nvSpPr>
        <p:spPr>
          <a:xfrm>
            <a:off x="685800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oy stud 1"/>
          <p:cNvSpPr/>
          <p:nvPr/>
        </p:nvSpPr>
        <p:spPr>
          <a:xfrm>
            <a:off x="813816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oy block 2"/>
          <p:cNvSpPr/>
          <p:nvPr/>
        </p:nvSpPr>
        <p:spPr>
          <a:xfrm>
            <a:off x="1271016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oy stud 2"/>
          <p:cNvSpPr/>
          <p:nvPr/>
        </p:nvSpPr>
        <p:spPr>
          <a:xfrm>
            <a:off x="1399032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oy block 3"/>
          <p:cNvSpPr/>
          <p:nvPr/>
        </p:nvSpPr>
        <p:spPr>
          <a:xfrm>
            <a:off x="1856232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oy stud 3"/>
          <p:cNvSpPr/>
          <p:nvPr/>
        </p:nvSpPr>
        <p:spPr>
          <a:xfrm>
            <a:off x="1984248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oy block 4"/>
          <p:cNvSpPr/>
          <p:nvPr/>
        </p:nvSpPr>
        <p:spPr>
          <a:xfrm>
            <a:off x="2441448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oy stud 4"/>
          <p:cNvSpPr/>
          <p:nvPr/>
        </p:nvSpPr>
        <p:spPr>
          <a:xfrm>
            <a:off x="2569464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oy block 5"/>
          <p:cNvSpPr/>
          <p:nvPr/>
        </p:nvSpPr>
        <p:spPr>
          <a:xfrm>
            <a:off x="3026664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oy stud 5"/>
          <p:cNvSpPr/>
          <p:nvPr/>
        </p:nvSpPr>
        <p:spPr>
          <a:xfrm>
            <a:off x="3154680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oy block 6"/>
          <p:cNvSpPr/>
          <p:nvPr/>
        </p:nvSpPr>
        <p:spPr>
          <a:xfrm>
            <a:off x="3611880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oy stud 6"/>
          <p:cNvSpPr/>
          <p:nvPr/>
        </p:nvSpPr>
        <p:spPr>
          <a:xfrm>
            <a:off x="3739896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oy block 7"/>
          <p:cNvSpPr/>
          <p:nvPr/>
        </p:nvSpPr>
        <p:spPr>
          <a:xfrm>
            <a:off x="4197096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oy stud 7"/>
          <p:cNvSpPr/>
          <p:nvPr/>
        </p:nvSpPr>
        <p:spPr>
          <a:xfrm>
            <a:off x="4325112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oy block 8"/>
          <p:cNvSpPr/>
          <p:nvPr/>
        </p:nvSpPr>
        <p:spPr>
          <a:xfrm>
            <a:off x="4782312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oy stud 8"/>
          <p:cNvSpPr/>
          <p:nvPr/>
        </p:nvSpPr>
        <p:spPr>
          <a:xfrm>
            <a:off x="4910328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oy block 9"/>
          <p:cNvSpPr/>
          <p:nvPr/>
        </p:nvSpPr>
        <p:spPr>
          <a:xfrm>
            <a:off x="5367528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oy stud 9"/>
          <p:cNvSpPr/>
          <p:nvPr/>
        </p:nvSpPr>
        <p:spPr>
          <a:xfrm>
            <a:off x="5495544" y="4681728"/>
            <a:ext cx="237744" cy="128016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oy block 10"/>
          <p:cNvSpPr/>
          <p:nvPr/>
        </p:nvSpPr>
        <p:spPr>
          <a:xfrm>
            <a:off x="5952744" y="4754880"/>
            <a:ext cx="493776" cy="493776"/>
          </a:xfrm>
          <a:prstGeom prst="roundRect">
            <a:avLst>
              <a:gd name="adj" fmla="val 18000"/>
            </a:avLst>
          </a:prstGeom>
          <a:solidFill>
            <a:srgbClr val="D9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oy stud 10"/>
          <p:cNvSpPr/>
          <p:nvPr/>
        </p:nvSpPr>
        <p:spPr>
          <a:xfrm>
            <a:off x="6080759" y="4681728"/>
            <a:ext cx="237744" cy="128016"/>
          </a:xfrm>
          <a:prstGeom prst="ellipse">
            <a:avLst/>
          </a:prstGeom>
          <a:solidFill>
            <a:srgbClr val="D9D4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Key points"/>
          <p:cNvSpPr txBox="1"/>
          <p:nvPr/>
        </p:nvSpPr>
        <p:spPr>
          <a:xfrm>
            <a:off x="6949440" y="1828800"/>
            <a:ext cx="45720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Jenga peaked in Jul 2022 and is now down 92%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Etch A Sketch peaked its second month and is down 56%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Hot Wheels is the lone exception, down just 9%</a:t>
            </a:r>
          </a:p>
          <a:p>
            <a:pPr marL="285750" indent="-285750">
              <a:spcAft>
                <a:spcPts val="1400"/>
              </a:spcAft>
              <a:buClr>
                <a:srgbClr val="2A78D6"/>
              </a:buClr>
              <a:buFont typeface="Arial"/>
              <a:buChar char="•"/>
            </a:pPr>
            <a:r>
              <a:rPr sz="2000">
                <a:solidFill>
                  <a:srgbClr val="1F1A17"/>
                </a:solidFill>
                <a:latin typeface="Calibri"/>
              </a:rPr>
              <a:t>Colorbuds follows the same pattern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Playfoam is taking off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5</a:t>
            </a:r>
          </a:p>
        </p:txBody>
      </p:sp>
      <p:graphicFrame>
        <p:nvGraphicFramePr>
          <p:cNvPr id="9" name="Playfoam monthly units"/>
          <p:cNvGraphicFramePr>
            <a:graphicFrameLocks noGrp="1"/>
          </p:cNvGraphicFramePr>
          <p:nvPr/>
        </p:nvGraphicFramePr>
        <p:xfrm>
          <a:off x="640080" y="1874519"/>
          <a:ext cx="5852160" cy="4251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Chart caption"/>
          <p:cNvSpPr txBox="1"/>
          <p:nvPr/>
        </p:nvSpPr>
        <p:spPr>
          <a:xfrm>
            <a:off x="640080" y="15544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6B6560"/>
                </a:solidFill>
                <a:latin typeface="Calibri"/>
              </a:rPr>
              <a:t>units sold per month</a:t>
            </a:r>
          </a:p>
        </p:txBody>
      </p:sp>
      <p:sp>
        <p:nvSpPr>
          <p:cNvPr id="11" name="Badge 1"/>
          <p:cNvSpPr/>
          <p:nvPr/>
        </p:nvSpPr>
        <p:spPr>
          <a:xfrm>
            <a:off x="6949440" y="1737360"/>
            <a:ext cx="4572000" cy="1280160"/>
          </a:xfrm>
          <a:prstGeom prst="roundRect">
            <a:avLst>
              <a:gd name="adj" fmla="val 10000"/>
            </a:avLst>
          </a:prstGeom>
          <a:solidFill>
            <a:srgbClr val="D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adge title 1"/>
          <p:cNvSpPr txBox="1"/>
          <p:nvPr/>
        </p:nvSpPr>
        <p:spPr>
          <a:xfrm>
            <a:off x="7223760" y="192024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1BAF7A"/>
                </a:solidFill>
                <a:latin typeface="Trebuchet MS"/>
              </a:rPr>
              <a:t>64% margin</a:t>
            </a:r>
          </a:p>
        </p:txBody>
      </p:sp>
      <p:sp>
        <p:nvSpPr>
          <p:cNvPr id="13" name="Badge note 1"/>
          <p:cNvSpPr txBox="1"/>
          <p:nvPr/>
        </p:nvSpPr>
        <p:spPr>
          <a:xfrm>
            <a:off x="7223760" y="25603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1A17"/>
                </a:solidFill>
                <a:latin typeface="Calibri"/>
              </a:rPr>
              <a:t>$7 profit on every unit</a:t>
            </a:r>
          </a:p>
        </p:txBody>
      </p:sp>
      <p:sp>
        <p:nvSpPr>
          <p:cNvPr id="14" name="Badge 2"/>
          <p:cNvSpPr/>
          <p:nvPr/>
        </p:nvSpPr>
        <p:spPr>
          <a:xfrm>
            <a:off x="6949440" y="3246120"/>
            <a:ext cx="4572000" cy="1280160"/>
          </a:xfrm>
          <a:prstGeom prst="roundRect">
            <a:avLst>
              <a:gd name="adj" fmla="val 10000"/>
            </a:avLst>
          </a:prstGeom>
          <a:solidFill>
            <a:srgbClr val="FFE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 title 2"/>
          <p:cNvSpPr txBox="1"/>
          <p:nvPr/>
        </p:nvSpPr>
        <p:spPr>
          <a:xfrm>
            <a:off x="7223760" y="3429000"/>
            <a:ext cx="41148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EB6834"/>
                </a:solidFill>
                <a:latin typeface="Trebuchet MS"/>
              </a:rPr>
              <a:t>13 stores out of stock</a:t>
            </a:r>
          </a:p>
        </p:txBody>
      </p:sp>
      <p:sp>
        <p:nvSpPr>
          <p:cNvPr id="16" name="Badge note 2"/>
          <p:cNvSpPr txBox="1"/>
          <p:nvPr/>
        </p:nvSpPr>
        <p:spPr>
          <a:xfrm>
            <a:off x="7223760" y="4069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1A17"/>
                </a:solidFill>
                <a:latin typeface="Calibri"/>
              </a:rPr>
              <a:t>about $5K a month left on the table</a:t>
            </a:r>
          </a:p>
        </p:txBody>
      </p:sp>
      <p:sp>
        <p:nvSpPr>
          <p:cNvPr id="17" name="Key points"/>
          <p:cNvSpPr txBox="1"/>
          <p:nvPr/>
        </p:nvSpPr>
        <p:spPr>
          <a:xfrm>
            <a:off x="6949440" y="4754880"/>
            <a:ext cx="45720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F1A17"/>
                </a:solidFill>
                <a:latin typeface="Calibri"/>
              </a:rPr>
              <a:t>Launched Aug 17 and already a top-5 profit toy</a:t>
            </a:r>
          </a:p>
          <a:p>
            <a:pPr marL="285750" indent="-285750">
              <a:spcAft>
                <a:spcPts val="1000"/>
              </a:spcAft>
              <a:buClr>
                <a:srgbClr val="2A78D6"/>
              </a:buClr>
              <a:buFont typeface="Arial"/>
              <a:buChar char="•"/>
            </a:pPr>
            <a:r>
              <a:rPr sz="1800">
                <a:solidFill>
                  <a:srgbClr val="1F1A17"/>
                </a:solidFill>
                <a:latin typeface="Calibri"/>
              </a:rPr>
              <a:t>New toys often cool off, so the window to act is short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640080" y="457200"/>
            <a:ext cx="859536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000" b="1">
                <a:solidFill>
                  <a:srgbClr val="1F1A17"/>
                </a:solidFill>
                <a:latin typeface="Trebuchet MS"/>
              </a:rPr>
              <a:t>Back newer, higher-margin toys</a:t>
            </a:r>
          </a:p>
        </p:txBody>
      </p:sp>
      <p:sp>
        <p:nvSpPr>
          <p:cNvPr id="3" name="Logo block 1"/>
          <p:cNvSpPr/>
          <p:nvPr/>
        </p:nvSpPr>
        <p:spPr>
          <a:xfrm>
            <a:off x="946404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845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Logo block 2"/>
          <p:cNvSpPr/>
          <p:nvPr/>
        </p:nvSpPr>
        <p:spPr>
          <a:xfrm>
            <a:off x="9646919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F2B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Logo block 3"/>
          <p:cNvSpPr/>
          <p:nvPr/>
        </p:nvSpPr>
        <p:spPr>
          <a:xfrm>
            <a:off x="9829800" y="457200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Logo wordmark"/>
          <p:cNvSpPr txBox="1"/>
          <p:nvPr/>
        </p:nvSpPr>
        <p:spPr>
          <a:xfrm>
            <a:off x="10104119" y="384048"/>
            <a:ext cx="146304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A78D6"/>
                </a:solidFill>
                <a:latin typeface="Trebuchet MS"/>
              </a:rPr>
              <a:t>Maven Toys</a:t>
            </a:r>
          </a:p>
        </p:txBody>
      </p:sp>
      <p:sp>
        <p:nvSpPr>
          <p:cNvPr id="7" name="Source"/>
          <p:cNvSpPr txBox="1"/>
          <p:nvPr/>
        </p:nvSpPr>
        <p:spPr>
          <a:xfrm>
            <a:off x="640080" y="6355080"/>
            <a:ext cx="9601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6B6560"/>
                </a:solidFill>
                <a:latin typeface="Calibri"/>
              </a:rPr>
              <a:t>Source: Maven Toys sales data, Jan 2022 – Sep 2023. Profit is estimated from current price and cost.</a:t>
            </a:r>
          </a:p>
        </p:txBody>
      </p:sp>
      <p:sp>
        <p:nvSpPr>
          <p:cNvPr id="8" name="Slide number"/>
          <p:cNvSpPr txBox="1"/>
          <p:nvPr/>
        </p:nvSpPr>
        <p:spPr>
          <a:xfrm>
            <a:off x="10972800" y="6355080"/>
            <a:ext cx="576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6B6560"/>
                </a:solidFill>
                <a:latin typeface="Calibri"/>
              </a:rPr>
              <a:t>6</a:t>
            </a:r>
          </a:p>
        </p:txBody>
      </p:sp>
      <p:sp>
        <p:nvSpPr>
          <p:cNvPr id="9" name="Card 1"/>
          <p:cNvSpPr/>
          <p:nvPr/>
        </p:nvSpPr>
        <p:spPr>
          <a:xfrm>
            <a:off x="640080" y="1783080"/>
            <a:ext cx="3383280" cy="4160520"/>
          </a:xfrm>
          <a:prstGeom prst="roundRect">
            <a:avLst>
              <a:gd name="adj" fmla="val 6000"/>
            </a:avLst>
          </a:prstGeom>
          <a:solidFill>
            <a:srgbClr val="E3EE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Number badge 1"/>
          <p:cNvSpPr/>
          <p:nvPr/>
        </p:nvSpPr>
        <p:spPr>
          <a:xfrm>
            <a:off x="1005840" y="2103120"/>
            <a:ext cx="822960" cy="82296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200" b="1">
                <a:solidFill>
                  <a:srgbClr val="FFFFFF"/>
                </a:solidFill>
                <a:latin typeface="Trebuchet MS"/>
              </a:rPr>
              <a:t>1</a:t>
            </a:r>
          </a:p>
        </p:txBody>
      </p:sp>
      <p:sp>
        <p:nvSpPr>
          <p:cNvPr id="11" name="Step 1"/>
          <p:cNvSpPr txBox="1"/>
          <p:nvPr/>
        </p:nvSpPr>
        <p:spPr>
          <a:xfrm>
            <a:off x="1005840" y="315468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1A17"/>
                </a:solidFill>
                <a:latin typeface="Trebuchet MS"/>
              </a:rPr>
              <a:t>Keep Playfoam in stock</a:t>
            </a:r>
          </a:p>
        </p:txBody>
      </p:sp>
      <p:sp>
        <p:nvSpPr>
          <p:cNvPr id="12" name="Step 1 details"/>
          <p:cNvSpPr txBox="1"/>
          <p:nvPr/>
        </p:nvSpPr>
        <p:spPr>
          <a:xfrm>
            <a:off x="1005840" y="438912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>
                <a:solidFill>
                  <a:srgbClr val="1F1A17"/>
                </a:solidFill>
                <a:latin typeface="Calibri"/>
              </a:rPr>
              <a:t>Refill the 13 empty stores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>
                <a:solidFill>
                  <a:srgbClr val="1F1A17"/>
                </a:solidFill>
                <a:latin typeface="Calibri"/>
              </a:rPr>
              <a:t>Check weekly; worth about $5K a month</a:t>
            </a:r>
          </a:p>
        </p:txBody>
      </p:sp>
      <p:sp>
        <p:nvSpPr>
          <p:cNvPr id="13" name="Card 2"/>
          <p:cNvSpPr/>
          <p:nvPr/>
        </p:nvSpPr>
        <p:spPr>
          <a:xfrm>
            <a:off x="4389120" y="1783080"/>
            <a:ext cx="3383280" cy="4160520"/>
          </a:xfrm>
          <a:prstGeom prst="roundRect">
            <a:avLst>
              <a:gd name="adj" fmla="val 6000"/>
            </a:avLst>
          </a:prstGeom>
          <a:solidFill>
            <a:srgbClr val="FFE9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Number badge 2"/>
          <p:cNvSpPr/>
          <p:nvPr/>
        </p:nvSpPr>
        <p:spPr>
          <a:xfrm>
            <a:off x="4754880" y="2103120"/>
            <a:ext cx="822960" cy="822960"/>
          </a:xfrm>
          <a:prstGeom prst="ellipse">
            <a:avLst/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200" b="1">
                <a:solidFill>
                  <a:srgbClr val="FFFFFF"/>
                </a:solidFill>
                <a:latin typeface="Trebuchet MS"/>
              </a:rPr>
              <a:t>2</a:t>
            </a:r>
          </a:p>
        </p:txBody>
      </p:sp>
      <p:sp>
        <p:nvSpPr>
          <p:cNvPr id="15" name="Step 2"/>
          <p:cNvSpPr txBox="1"/>
          <p:nvPr/>
        </p:nvSpPr>
        <p:spPr>
          <a:xfrm>
            <a:off x="4754880" y="315468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1A17"/>
                </a:solidFill>
                <a:latin typeface="Trebuchet MS"/>
              </a:rPr>
              <a:t>Test one Colorbuds fix</a:t>
            </a:r>
          </a:p>
        </p:txBody>
      </p:sp>
      <p:sp>
        <p:nvSpPr>
          <p:cNvPr id="16" name="Step 2 details"/>
          <p:cNvSpPr txBox="1"/>
          <p:nvPr/>
        </p:nvSpPr>
        <p:spPr>
          <a:xfrm>
            <a:off x="4754880" y="438912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>
                <a:solidFill>
                  <a:srgbClr val="1F1A17"/>
                </a:solidFill>
                <a:latin typeface="Calibri"/>
              </a:rPr>
              <a:t>10 test stores vs 10 similar ones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>
                <a:solidFill>
                  <a:srgbClr val="1F1A17"/>
                </a:solidFill>
                <a:latin typeface="Calibri"/>
              </a:rPr>
              <a:t>Up to about $11K a month if it works</a:t>
            </a:r>
          </a:p>
        </p:txBody>
      </p:sp>
      <p:sp>
        <p:nvSpPr>
          <p:cNvPr id="17" name="Card 3"/>
          <p:cNvSpPr/>
          <p:nvPr/>
        </p:nvSpPr>
        <p:spPr>
          <a:xfrm>
            <a:off x="8138159" y="1783080"/>
            <a:ext cx="3383280" cy="4160520"/>
          </a:xfrm>
          <a:prstGeom prst="roundRect">
            <a:avLst>
              <a:gd name="adj" fmla="val 6000"/>
            </a:avLst>
          </a:prstGeom>
          <a:solidFill>
            <a:srgbClr val="DD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Number badge 3"/>
          <p:cNvSpPr/>
          <p:nvPr/>
        </p:nvSpPr>
        <p:spPr>
          <a:xfrm>
            <a:off x="8503919" y="2103120"/>
            <a:ext cx="822960" cy="822960"/>
          </a:xfrm>
          <a:prstGeom prst="ellipse">
            <a:avLst/>
          </a:prstGeom>
          <a:solidFill>
            <a:srgbClr val="1BAF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3200" b="1">
                <a:solidFill>
                  <a:srgbClr val="FFFFFF"/>
                </a:solidFill>
                <a:latin typeface="Trebuchet MS"/>
              </a:rPr>
              <a:t>3</a:t>
            </a:r>
          </a:p>
        </p:txBody>
      </p:sp>
      <p:sp>
        <p:nvSpPr>
          <p:cNvPr id="19" name="Step 3"/>
          <p:cNvSpPr txBox="1"/>
          <p:nvPr/>
        </p:nvSpPr>
        <p:spPr>
          <a:xfrm>
            <a:off x="8503919" y="3154680"/>
            <a:ext cx="26974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1F1A17"/>
                </a:solidFill>
                <a:latin typeface="Trebuchet MS"/>
              </a:rPr>
              <a:t>Review in 8 weeks</a:t>
            </a:r>
          </a:p>
        </p:txBody>
      </p:sp>
      <p:sp>
        <p:nvSpPr>
          <p:cNvPr id="20" name="Step 3 details"/>
          <p:cNvSpPr txBox="1"/>
          <p:nvPr/>
        </p:nvSpPr>
        <p:spPr>
          <a:xfrm>
            <a:off x="8503919" y="4389120"/>
            <a:ext cx="26974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>
                <a:solidFill>
                  <a:srgbClr val="1F1A17"/>
                </a:solidFill>
                <a:latin typeface="Calibri"/>
              </a:rPr>
              <a:t>Scale what works, stop what doesn't</a:t>
            </a:r>
          </a:p>
          <a:p>
            <a:pPr marL="285750" indent="-285750">
              <a:spcAft>
                <a:spcPts val="800"/>
              </a:spcAft>
              <a:buClr>
                <a:srgbClr val="2A78D6"/>
              </a:buClr>
              <a:buFont typeface="Arial"/>
              <a:buChar char="•"/>
            </a:pPr>
            <a:r>
              <a:rPr sz="1600">
                <a:solidFill>
                  <a:srgbClr val="1F1A17"/>
                </a:solidFill>
                <a:latin typeface="Calibri"/>
              </a:rPr>
              <a:t>Pick the next higher-margin toy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Colorbuds is fading: what to do next</dc:title>
  <dc:subject>Business review</dc:subject>
  <dc:creator>Maven Toys Analytics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