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Colorbuds units per month</c:v>
                </c:pt>
              </c:strCache>
            </c:strRef>
          </c:tx>
          <c:spPr>
            <a:ln w="44450">
              <a:solidFill>
                <a:srgbClr val="E8457B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11"/>
              <c:spPr>
                <a:solidFill>
                  <a:srgbClr val="E8457B"/>
                </a:solidFill>
                <a:ln>
                  <a:solidFill>
                    <a:srgbClr val="FFFFFF"/>
                  </a:solidFill>
                </a:ln>
              </c:spPr>
            </c:marker>
          </c:dPt>
          <c:dPt>
            <c:idx val="20"/>
            <c:marker>
              <c:symbol val="circle"/>
              <c:size val="11"/>
              <c:spPr>
                <a:solidFill>
                  <a:srgbClr val="E8457B"/>
                </a:solidFill>
                <a:ln>
                  <a:solidFill>
                    <a:srgbClr val="FFFFFF"/>
                  </a:solidFill>
                </a:ln>
              </c:spPr>
            </c:marke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D6336C"/>
                        </a:solidFill>
                        <a:latin typeface="Cambria"/>
                      </a:rPr>
                      <a:t>8,110</a:t>
                    </a:r>
                  </a:p>
                  <a:p>
                    <a:r>
                      <a:rPr sz="1300">
                        <a:solidFill>
                          <a:srgbClr val="5B6470"/>
                        </a:solidFill>
                        <a:latin typeface="Calibri"/>
                      </a:rPr>
                      <a:t>Jan 2022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D6336C"/>
                        </a:solidFill>
                        <a:latin typeface="Cambria"/>
                      </a:rPr>
                      <a:t>2,594</a:t>
                    </a:r>
                  </a:p>
                  <a:p>
                    <a:r>
                      <a:rPr sz="1300">
                        <a:solidFill>
                          <a:srgbClr val="5B6470"/>
                        </a:solidFill>
                        <a:latin typeface="Calibri"/>
                      </a:rPr>
                      <a:t>Sep 2023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Jan
’22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Jul</c:v>
                </c:pt>
                <c:pt idx="7">
                  <c:v>        </c:v>
                </c:pt>
                <c:pt idx="8">
                  <c:v>         </c:v>
                </c:pt>
                <c:pt idx="9">
                  <c:v>          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Jan
’23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                </c:v>
                </c:pt>
                <c:pt idx="16">
                  <c:v>                 </c:v>
                </c:pt>
                <c:pt idx="17">
                  <c:v>                  </c:v>
                </c:pt>
                <c:pt idx="18">
                  <c:v>Jul</c:v>
                </c:pt>
                <c:pt idx="19">
                  <c:v>                    </c:v>
                </c:pt>
                <c:pt idx="20">
                  <c:v>                     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8110</c:v>
                </c:pt>
                <c:pt idx="1">
                  <c:v>7627</c:v>
                </c:pt>
                <c:pt idx="2">
                  <c:v>7843</c:v>
                </c:pt>
                <c:pt idx="3">
                  <c:v>7267</c:v>
                </c:pt>
                <c:pt idx="4">
                  <c:v>6974</c:v>
                </c:pt>
                <c:pt idx="5">
                  <c:v>6506</c:v>
                </c:pt>
                <c:pt idx="6">
                  <c:v>6511</c:v>
                </c:pt>
                <c:pt idx="7">
                  <c:v>6368</c:v>
                </c:pt>
                <c:pt idx="8">
                  <c:v>4931</c:v>
                </c:pt>
                <c:pt idx="9">
                  <c:v>4713</c:v>
                </c:pt>
                <c:pt idx="10">
                  <c:v>4284</c:v>
                </c:pt>
                <c:pt idx="11">
                  <c:v>4078</c:v>
                </c:pt>
                <c:pt idx="12">
                  <c:v>3666</c:v>
                </c:pt>
                <c:pt idx="13">
                  <c:v>3301</c:v>
                </c:pt>
                <c:pt idx="14">
                  <c:v>3660</c:v>
                </c:pt>
                <c:pt idx="15">
                  <c:v>3369</c:v>
                </c:pt>
                <c:pt idx="16">
                  <c:v>2795</c:v>
                </c:pt>
                <c:pt idx="17">
                  <c:v>3069</c:v>
                </c:pt>
                <c:pt idx="18">
                  <c:v>3537</c:v>
                </c:pt>
                <c:pt idx="19">
                  <c:v>3165</c:v>
                </c:pt>
                <c:pt idx="20">
                  <c:v>2594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 rot="0" vert="horz"/>
          <a:lstStyle/>
          <a:p>
            <a:pPr>
              <a:defRPr sz="1300">
                <a:solidFill>
                  <a:srgbClr val="5B647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00.0"/>
          <c:min val="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Playfoam units</c:v>
                </c:pt>
              </c:strCache>
            </c:strRef>
          </c:tx>
          <c:spPr>
            <a:solidFill>
              <a:srgbClr val="1BAF7A"/>
            </a:solidFill>
          </c:spPr>
          <c:dPt>
            <c:idx val="0"/>
            <c:spPr>
              <a:solidFill>
                <a:srgbClr val="A5E3CC"/>
              </a:solidFill>
            </c:spPr>
          </c:dPt>
          <c:cat>
            <c:strRef>
              <c:f>Sheet1!$A$2:$A$3</c:f>
              <c:strCache>
                <c:ptCount val="2"/>
                <c:pt idx="0">
                  <c:v>Aug (from the 17th)</c:v>
                </c:pt>
                <c:pt idx="1">
                  <c:v>Sep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1311</c:v>
                </c:pt>
                <c:pt idx="1">
                  <c:v>2847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2600" b="1">
                  <a:solidFill>
                    <a:srgbClr val="051C2C"/>
                  </a:solidFill>
                  <a:latin typeface="Cambr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1500">
                <a:solidFill>
                  <a:srgbClr val="5B64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answer: Colorbuds (our line of kids' wireless earbuds), our #1 profit toy, is in decline. The plan is simple: back newer, higher-margin toys, test one cheap fix for Colorbuds, and review in 8 weeks. Keep the intro under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Colorbuds earned about 28% of Q3 2022 profit and 13% of Q3 2023 profit; it is still our #1 profit toy, so it is fading, not dead. Playfoam launched in mid-August 2023; at its September pace (2,847 units x $7 profit per unit) it earns about $20K a month. Colorbuds' monthly profit is about $44K lower than in Jan 2022 ((8,110 - 2,594) units x $8). Profit is estimated from current price and cost, not accounting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Colorbuds units fell from 8,110 (Jan 2022) to 2,594 (Sep 2023), down 68%. The drop is steady and broad: 48 of 50 stores are down (Jan-Sep 2023 vs Jan-Sep 2022), in every store type. All 50 stores carry it and none is at zero stock, so this looks like a demand problem, not a stock problem. Some of the drop is seasonal (company-wide revenue in Sep is about 26% below its peak month) but not most of it. The data cannot say WHY demand fell; no price history, promotions or competitor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likely explanation, not a proven cause. Of the 10 toys that started selling during this data (excluding Playfoam, which is too new), 9 now sell at least 40% less per month than in their peak month. Jenga -92%, Supersoaker -66%, Mr. Potatohead -65%, PlayDoh Playset -64%, Etch A Sketch -56%, Plush Pony -56%, Foam Disk Launcher -54%, Magic Sand -41%, Gamer Headphones -41%; Hot Wheels is the exception at -9%. Caveats: part of each drop is seasonal, and 'launch' means first sale in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Playfoam launched Aug 17, 2023 and sold 4,158 units in about six weeks (1,311 in August from the 17th, 2,847 in September). It earns $7 per unit at a 64% margin, about $20K a month at the September pace. It is at zero stock in 13 stores; each store sells about 57 units a month, so empty shelves cost roughly $5K a month. It was the #5 profit toy in Q3 2023 despite only ~6 weeks on sale. Be honest: hot now, likely to cool (see the previous slide). Only six weeks of data; the $20K is a run-rate,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Keep Playfoam in stock: refill the 13 stores at zero and keep every store above about two weeks of sales (roughly 26 units a store); check weekly. Worth about $5K a month now. 2) Test one cheap Colorbuds fix: refresh, bundle with Gamer Headphones, or better shelf placement in about 10 stores against 10 similar control stores for six weeks. Winning back a quarter of the lost sales is worth up to about $11K a month. 3) Review at week 8: if the test stores sold about 15% more Colorbuds, scale the fix; if not, stop. Pick the next newer, higher-margin toy to back at the same review. The 15% threshold is a suggestion to agree on in advance, not something from the data. Sizes are estimates; the data cannot show why Colorbuds fell.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rk 1"/>
          <p:cNvSpPr/>
          <p:nvPr/>
        </p:nvSpPr>
        <p:spPr>
          <a:xfrm>
            <a:off x="548640" y="566928"/>
            <a:ext cx="128016" cy="128016"/>
          </a:xfrm>
          <a:prstGeom prst="rect">
            <a:avLst/>
          </a:prstGeom>
          <a:solidFill>
            <a:srgbClr val="E84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ark 2"/>
          <p:cNvSpPr/>
          <p:nvPr/>
        </p:nvSpPr>
        <p:spPr>
          <a:xfrm>
            <a:off x="731520" y="566928"/>
            <a:ext cx="128016" cy="128016"/>
          </a:xfrm>
          <a:prstGeom prst="rect">
            <a:avLst/>
          </a:prstGeom>
          <a:solidFill>
            <a:srgbClr val="F2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ark 3"/>
          <p:cNvSpPr/>
          <p:nvPr/>
        </p:nvSpPr>
        <p:spPr>
          <a:xfrm>
            <a:off x="914400" y="566928"/>
            <a:ext cx="128016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ordmark"/>
          <p:cNvSpPr txBox="1"/>
          <p:nvPr/>
        </p:nvSpPr>
        <p:spPr>
          <a:xfrm>
            <a:off x="1280160" y="47548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MAVEN TOYS</a:t>
            </a:r>
          </a:p>
        </p:txBody>
      </p:sp>
      <p:sp>
        <p:nvSpPr>
          <p:cNvPr id="6" name="Block r0c0"/>
          <p:cNvSpPr/>
          <p:nvPr/>
        </p:nvSpPr>
        <p:spPr>
          <a:xfrm>
            <a:off x="7818120" y="5623560"/>
            <a:ext cx="822960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r0c1"/>
          <p:cNvSpPr/>
          <p:nvPr/>
        </p:nvSpPr>
        <p:spPr>
          <a:xfrm>
            <a:off x="8732520" y="5623560"/>
            <a:ext cx="822960" cy="822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r0c2"/>
          <p:cNvSpPr/>
          <p:nvPr/>
        </p:nvSpPr>
        <p:spPr>
          <a:xfrm>
            <a:off x="9646920" y="5623560"/>
            <a:ext cx="822960" cy="822960"/>
          </a:xfrm>
          <a:prstGeom prst="rect">
            <a:avLst/>
          </a:prstGeom>
          <a:solidFill>
            <a:srgbClr val="E84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ock r0c3"/>
          <p:cNvSpPr/>
          <p:nvPr/>
        </p:nvSpPr>
        <p:spPr>
          <a:xfrm>
            <a:off x="10561320" y="5623560"/>
            <a:ext cx="822960" cy="822960"/>
          </a:xfrm>
          <a:prstGeom prst="rect">
            <a:avLst/>
          </a:prstGeom>
          <a:solidFill>
            <a:srgbClr val="F2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ock r1c0"/>
          <p:cNvSpPr/>
          <p:nvPr/>
        </p:nvSpPr>
        <p:spPr>
          <a:xfrm>
            <a:off x="8275320" y="4709160"/>
            <a:ext cx="822960" cy="8229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ock r1c1"/>
          <p:cNvSpPr/>
          <p:nvPr/>
        </p:nvSpPr>
        <p:spPr>
          <a:xfrm>
            <a:off x="9189720" y="4709160"/>
            <a:ext cx="822960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r1c2"/>
          <p:cNvSpPr/>
          <p:nvPr/>
        </p:nvSpPr>
        <p:spPr>
          <a:xfrm>
            <a:off x="10104120" y="4709160"/>
            <a:ext cx="822960" cy="822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ock r2c0"/>
          <p:cNvSpPr/>
          <p:nvPr/>
        </p:nvSpPr>
        <p:spPr>
          <a:xfrm>
            <a:off x="8732520" y="3794760"/>
            <a:ext cx="822960" cy="822960"/>
          </a:xfrm>
          <a:prstGeom prst="rect">
            <a:avLst/>
          </a:prstGeom>
          <a:solidFill>
            <a:srgbClr val="E84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r2c1"/>
          <p:cNvSpPr/>
          <p:nvPr/>
        </p:nvSpPr>
        <p:spPr>
          <a:xfrm>
            <a:off x="9646920" y="3794760"/>
            <a:ext cx="822960" cy="8229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ock r3c0"/>
          <p:cNvSpPr/>
          <p:nvPr/>
        </p:nvSpPr>
        <p:spPr>
          <a:xfrm>
            <a:off x="9189720" y="2880360"/>
            <a:ext cx="822960" cy="822960"/>
          </a:xfrm>
          <a:prstGeom prst="rect">
            <a:avLst/>
          </a:prstGeom>
          <a:solidFill>
            <a:srgbClr val="F2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tle"/>
          <p:cNvSpPr txBox="1"/>
          <p:nvPr/>
        </p:nvSpPr>
        <p:spPr>
          <a:xfrm>
            <a:off x="548640" y="1463040"/>
            <a:ext cx="7223760" cy="24688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Colorbuds, our #1 profit toy,</a:t>
            </a:r>
            <a:br/>
            <a:r>
              <a:rPr sz="4000" b="1">
                <a:solidFill>
                  <a:srgbClr val="FFFFFF"/>
                </a:solidFill>
                <a:latin typeface="Cambria"/>
              </a:rPr>
              <a:t>is in decline</a:t>
            </a:r>
          </a:p>
        </p:txBody>
      </p:sp>
      <p:sp>
        <p:nvSpPr>
          <p:cNvPr id="17" name="Subtitle"/>
          <p:cNvSpPr txBox="1"/>
          <p:nvPr/>
        </p:nvSpPr>
        <p:spPr>
          <a:xfrm>
            <a:off x="548640" y="416052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6E0EE"/>
                </a:solidFill>
                <a:latin typeface="Calibri"/>
              </a:rPr>
              <a:t>A plan to protect profit by backing newer, higher-margin toys</a:t>
            </a:r>
          </a:p>
        </p:txBody>
      </p:sp>
      <p:sp>
        <p:nvSpPr>
          <p:cNvPr id="18" name="Descriptor"/>
          <p:cNvSpPr txBox="1"/>
          <p:nvPr/>
        </p:nvSpPr>
        <p:spPr>
          <a:xfrm>
            <a:off x="548640" y="50749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9B8CC"/>
                </a:solidFill>
                <a:latin typeface="Calibri"/>
              </a:rPr>
              <a:t>Colorbuds are our line of kids' wireless earbuds</a:t>
            </a:r>
          </a:p>
        </p:txBody>
      </p:sp>
      <p:sp>
        <p:nvSpPr>
          <p:cNvPr id="19" name="Date line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9B8CC"/>
                </a:solidFill>
                <a:latin typeface="Calibri"/>
              </a:rPr>
              <a:t>Business review  |  Data through Sep 30,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51C2C"/>
                </a:solidFill>
                <a:latin typeface="Cambria"/>
              </a:rPr>
              <a:t>Our top profit toy is fading, and a newer toy is already making up part of the gap</a:t>
            </a:r>
          </a:p>
        </p:txBody>
      </p:sp>
      <p:sp>
        <p:nvSpPr>
          <p:cNvPr id="3" name="Source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Calibri"/>
              </a:rPr>
              <a:t>Source: Maven Toys sales data, Jan 2022 – Sep 2023. Profit is estimated from current price and cost.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326880" y="6382512"/>
            <a:ext cx="2316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Calibri"/>
              </a:rPr>
              <a:t>Maven Toys   |   2</a:t>
            </a:r>
          </a:p>
        </p:txBody>
      </p:sp>
      <p:sp>
        <p:nvSpPr>
          <p:cNvPr id="5" name="Panel 1"/>
          <p:cNvSpPr/>
          <p:nvPr/>
        </p:nvSpPr>
        <p:spPr>
          <a:xfrm>
            <a:off x="548640" y="1691640"/>
            <a:ext cx="5364327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nel label 1"/>
          <p:cNvSpPr txBox="1"/>
          <p:nvPr/>
        </p:nvSpPr>
        <p:spPr>
          <a:xfrm>
            <a:off x="914400" y="1920240"/>
            <a:ext cx="4632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0"/>
                </a:solidFill>
                <a:latin typeface="Calibri"/>
              </a:rPr>
              <a:t>COLORBUDS' SHARE OF QUARTERLY PROFIT</a:t>
            </a:r>
          </a:p>
        </p:txBody>
      </p:sp>
      <p:sp>
        <p:nvSpPr>
          <p:cNvPr id="7" name="Big number 1"/>
          <p:cNvSpPr txBox="1"/>
          <p:nvPr/>
        </p:nvSpPr>
        <p:spPr>
          <a:xfrm>
            <a:off x="914400" y="233172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>
                <a:solidFill>
                  <a:srgbClr val="D6336C"/>
                </a:solidFill>
                <a:latin typeface="Cambria"/>
              </a:rPr>
              <a:t>28% → 13%</a:t>
            </a:r>
          </a:p>
        </p:txBody>
      </p:sp>
      <p:sp>
        <p:nvSpPr>
          <p:cNvPr id="8" name="Caption 1"/>
          <p:cNvSpPr txBox="1"/>
          <p:nvPr/>
        </p:nvSpPr>
        <p:spPr>
          <a:xfrm>
            <a:off x="914400" y="3611880"/>
            <a:ext cx="4632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0"/>
                </a:solidFill>
                <a:latin typeface="Calibri"/>
              </a:rPr>
              <a:t>Q3 2022 to Q3 2023</a:t>
            </a:r>
          </a:p>
        </p:txBody>
      </p:sp>
      <p:sp>
        <p:nvSpPr>
          <p:cNvPr id="9" name="Panel 2"/>
          <p:cNvSpPr/>
          <p:nvPr/>
        </p:nvSpPr>
        <p:spPr>
          <a:xfrm>
            <a:off x="6278727" y="1691640"/>
            <a:ext cx="5364327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 label 2"/>
          <p:cNvSpPr txBox="1"/>
          <p:nvPr/>
        </p:nvSpPr>
        <p:spPr>
          <a:xfrm>
            <a:off x="6644487" y="1920240"/>
            <a:ext cx="4632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0"/>
                </a:solidFill>
                <a:latin typeface="Calibri"/>
              </a:rPr>
              <a:t>PLAYFOAM PROFIT PER MONTH</a:t>
            </a:r>
          </a:p>
        </p:txBody>
      </p:sp>
      <p:sp>
        <p:nvSpPr>
          <p:cNvPr id="11" name="Big number 2"/>
          <p:cNvSpPr txBox="1"/>
          <p:nvPr/>
        </p:nvSpPr>
        <p:spPr>
          <a:xfrm>
            <a:off x="6644487" y="233172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>
                <a:solidFill>
                  <a:srgbClr val="0E8F63"/>
                </a:solidFill>
                <a:latin typeface="Cambria"/>
              </a:rPr>
              <a:t>$20K</a:t>
            </a:r>
          </a:p>
        </p:txBody>
      </p:sp>
      <p:sp>
        <p:nvSpPr>
          <p:cNvPr id="12" name="Caption 2"/>
          <p:cNvSpPr txBox="1"/>
          <p:nvPr/>
        </p:nvSpPr>
        <p:spPr>
          <a:xfrm>
            <a:off x="6644487" y="3611880"/>
            <a:ext cx="4632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0"/>
                </a:solidFill>
                <a:latin typeface="Calibri"/>
              </a:rPr>
              <a:t>At its September pace</a:t>
            </a:r>
          </a:p>
        </p:txBody>
      </p:sp>
      <p:sp>
        <p:nvSpPr>
          <p:cNvPr id="13" name="Key points"/>
          <p:cNvSpPr txBox="1"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2000" b="0">
                <a:solidFill>
                  <a:srgbClr val="1B2733"/>
                </a:solidFill>
                <a:latin typeface="Calibri"/>
              </a:rPr>
              <a:t>Colorbuds is still our </a:t>
            </a:r>
            <a:r>
              <a:rPr sz="2000" b="1">
                <a:solidFill>
                  <a:srgbClr val="1B2733"/>
                </a:solidFill>
                <a:latin typeface="Calibri"/>
              </a:rPr>
              <a:t>#1 profit toy</a:t>
            </a:r>
            <a:r>
              <a:rPr sz="2000" b="0">
                <a:solidFill>
                  <a:srgbClr val="1B2733"/>
                </a:solidFill>
                <a:latin typeface="Calibri"/>
              </a:rPr>
              <a:t>, but its share has </a:t>
            </a:r>
            <a:r>
              <a:rPr sz="2000" b="1">
                <a:solidFill>
                  <a:srgbClr val="1B2733"/>
                </a:solidFill>
                <a:latin typeface="Calibri"/>
              </a:rPr>
              <a:t>more than halved</a:t>
            </a:r>
          </a:p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2000" b="0">
                <a:solidFill>
                  <a:srgbClr val="1B2733"/>
                </a:solidFill>
                <a:latin typeface="Calibri"/>
              </a:rPr>
              <a:t>Playfoam launched in mid-August and is already a </a:t>
            </a:r>
            <a:r>
              <a:rPr sz="2000" b="1">
                <a:solidFill>
                  <a:srgbClr val="1B2733"/>
                </a:solidFill>
                <a:latin typeface="Calibri"/>
              </a:rPr>
              <a:t>top-5 profit toy</a:t>
            </a:r>
          </a:p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2000" b="0">
                <a:solidFill>
                  <a:srgbClr val="1B2733"/>
                </a:solidFill>
                <a:latin typeface="Calibri"/>
              </a:rPr>
              <a:t>Playfoam's September pace is </a:t>
            </a:r>
            <a:r>
              <a:rPr sz="2000" b="1">
                <a:solidFill>
                  <a:srgbClr val="1B2733"/>
                </a:solidFill>
                <a:latin typeface="Calibri"/>
              </a:rPr>
              <a:t>nearly half</a:t>
            </a:r>
            <a:r>
              <a:rPr sz="2000" b="0">
                <a:solidFill>
                  <a:srgbClr val="1B2733"/>
                </a:solidFill>
                <a:latin typeface="Calibri"/>
              </a:rPr>
              <a:t> of the $44K a month Colorbuds has lost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51C2C"/>
                </a:solidFill>
                <a:latin typeface="Cambria"/>
              </a:rPr>
              <a:t>Colorbuds sales have fallen 68% since January 2022, across almost every store</a:t>
            </a:r>
          </a:p>
        </p:txBody>
      </p:sp>
      <p:sp>
        <p:nvSpPr>
          <p:cNvPr id="3" name="Source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Calibri"/>
              </a:rPr>
              <a:t>Source: Maven Toys sales data, Jan 2022 – Sep 2023. Profit is estimated from current price and cost.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326880" y="6382512"/>
            <a:ext cx="2316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Calibri"/>
              </a:rPr>
              <a:t>Maven Toys   |   3</a:t>
            </a:r>
          </a:p>
        </p:txBody>
      </p:sp>
      <p:sp>
        <p:nvSpPr>
          <p:cNvPr id="5" name="Chart label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0"/>
                </a:solidFill>
                <a:latin typeface="Calibri"/>
              </a:rPr>
              <a:t>COLORBUDS UNITS SOLD PER MONTH</a:t>
            </a:r>
          </a:p>
        </p:txBody>
      </p:sp>
      <p:graphicFrame>
        <p:nvGraphicFramePr>
          <p:cNvPr id="6" name="Colorbuds monthly units"/>
          <p:cNvGraphicFramePr>
            <a:graphicFrameLocks noGrp="1"/>
          </p:cNvGraphicFramePr>
          <p:nvPr/>
        </p:nvGraphicFramePr>
        <p:xfrm>
          <a:off x="548640" y="2011680"/>
          <a:ext cx="72237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akeaways panel"/>
          <p:cNvSpPr/>
          <p:nvPr/>
        </p:nvSpPr>
        <p:spPr>
          <a:xfrm>
            <a:off x="8183879" y="1691640"/>
            <a:ext cx="3459175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akeaways label"/>
          <p:cNvSpPr txBox="1"/>
          <p:nvPr/>
        </p:nvSpPr>
        <p:spPr>
          <a:xfrm>
            <a:off x="8503920" y="1920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0"/>
                </a:solidFill>
                <a:latin typeface="Calibri"/>
              </a:rPr>
              <a:t>WHAT WE SEE</a:t>
            </a:r>
          </a:p>
        </p:txBody>
      </p:sp>
      <p:sp>
        <p:nvSpPr>
          <p:cNvPr id="9" name="Key points"/>
          <p:cNvSpPr txBox="1"/>
          <p:nvPr/>
        </p:nvSpPr>
        <p:spPr>
          <a:xfrm>
            <a:off x="8503920" y="2377440"/>
            <a:ext cx="2880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400"/>
              </a:spcAft>
              <a:buClr>
                <a:srgbClr val="2A78D6"/>
              </a:buClr>
              <a:buFont typeface="Arial"/>
              <a:buChar char="•"/>
            </a:pPr>
            <a:r>
              <a:rPr sz="1800" b="0">
                <a:solidFill>
                  <a:srgbClr val="1B2733"/>
                </a:solidFill>
                <a:latin typeface="Calibri"/>
              </a:rPr>
              <a:t>Down in </a:t>
            </a:r>
            <a:r>
              <a:rPr sz="1800" b="1">
                <a:solidFill>
                  <a:srgbClr val="1B2733"/>
                </a:solidFill>
                <a:latin typeface="Calibri"/>
              </a:rPr>
              <a:t>48 of 50 stores</a:t>
            </a:r>
            <a:r>
              <a:rPr sz="1800" b="0">
                <a:solidFill>
                  <a:srgbClr val="1B2733"/>
                </a:solidFill>
                <a:latin typeface="Calibri"/>
              </a:rPr>
              <a:t>, in every store type</a:t>
            </a:r>
          </a:p>
          <a:p>
            <a:pPr marL="285750" indent="-285750">
              <a:spcAft>
                <a:spcPts val="1400"/>
              </a:spcAft>
              <a:buClr>
                <a:srgbClr val="2A78D6"/>
              </a:buClr>
              <a:buFont typeface="Arial"/>
              <a:buChar char="•"/>
            </a:pPr>
            <a:r>
              <a:rPr sz="1800" b="0">
                <a:solidFill>
                  <a:srgbClr val="1B2733"/>
                </a:solidFill>
                <a:latin typeface="Calibri"/>
              </a:rPr>
              <a:t>Every store still carries it, so this is </a:t>
            </a:r>
            <a:r>
              <a:rPr sz="1800" b="1">
                <a:solidFill>
                  <a:srgbClr val="1B2733"/>
                </a:solidFill>
                <a:latin typeface="Calibri"/>
              </a:rPr>
              <a:t>weaker demand, not empty shelves</a:t>
            </a:r>
          </a:p>
          <a:p>
            <a:pPr marL="285750" indent="-285750">
              <a:spcAft>
                <a:spcPts val="1400"/>
              </a:spcAft>
              <a:buClr>
                <a:srgbClr val="2A78D6"/>
              </a:buClr>
              <a:buFont typeface="Arial"/>
              <a:buChar char="•"/>
            </a:pPr>
            <a:r>
              <a:rPr sz="1800" b="0">
                <a:solidFill>
                  <a:srgbClr val="1B2733"/>
                </a:solidFill>
                <a:latin typeface="Calibri"/>
              </a:rPr>
              <a:t>Quarterly profit has </a:t>
            </a:r>
            <a:r>
              <a:rPr sz="1800" b="1">
                <a:solidFill>
                  <a:srgbClr val="1B2733"/>
                </a:solidFill>
                <a:latin typeface="Calibri"/>
              </a:rPr>
              <a:t>roughly halved</a:t>
            </a:r>
            <a:r>
              <a:rPr sz="1800" b="0">
                <a:solidFill>
                  <a:srgbClr val="1B2733"/>
                </a:solidFill>
                <a:latin typeface="Calibri"/>
              </a:rPr>
              <a:t>: $142K to $74K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51C2C"/>
                </a:solidFill>
                <a:latin typeface="Cambria"/>
              </a:rPr>
              <a:t>Fading is normal for our toys: 9 of 10 recent launches are 40%+ below their peak</a:t>
            </a:r>
          </a:p>
        </p:txBody>
      </p:sp>
      <p:sp>
        <p:nvSpPr>
          <p:cNvPr id="3" name="Source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Calibri"/>
              </a:rPr>
              <a:t>Source: Maven Toys sales data, Jan 2022 – Sep 2023. Profit is estimated from current price and cost.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326880" y="6382512"/>
            <a:ext cx="2316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Calibri"/>
              </a:rPr>
              <a:t>Maven Toys   |   4</a:t>
            </a:r>
          </a:p>
        </p:txBody>
      </p:sp>
      <p:sp>
        <p:nvSpPr>
          <p:cNvPr id="5" name="Stat panel"/>
          <p:cNvSpPr/>
          <p:nvPr/>
        </p:nvSpPr>
        <p:spPr>
          <a:xfrm>
            <a:off x="548640" y="1691640"/>
            <a:ext cx="5852160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ig number"/>
          <p:cNvSpPr txBox="1"/>
          <p:nvPr/>
        </p:nvSpPr>
        <p:spPr>
          <a:xfrm>
            <a:off x="914400" y="196596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0" b="1">
                <a:solidFill>
                  <a:srgbClr val="D9531E"/>
                </a:solidFill>
                <a:latin typeface="Cambria"/>
              </a:rPr>
              <a:t>9 of 10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914400" y="36118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51C2C"/>
                </a:solidFill>
                <a:latin typeface="Calibri"/>
              </a:rPr>
              <a:t>recent launches are 40%+ below their peak month</a:t>
            </a:r>
          </a:p>
        </p:txBody>
      </p:sp>
      <p:sp>
        <p:nvSpPr>
          <p:cNvPr id="8" name="Toy marker 1"/>
          <p:cNvSpPr/>
          <p:nvPr/>
        </p:nvSpPr>
        <p:spPr>
          <a:xfrm>
            <a:off x="914400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oy marker 2"/>
          <p:cNvSpPr/>
          <p:nvPr/>
        </p:nvSpPr>
        <p:spPr>
          <a:xfrm>
            <a:off x="1408176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oy marker 3"/>
          <p:cNvSpPr/>
          <p:nvPr/>
        </p:nvSpPr>
        <p:spPr>
          <a:xfrm>
            <a:off x="1901952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oy marker 4"/>
          <p:cNvSpPr/>
          <p:nvPr/>
        </p:nvSpPr>
        <p:spPr>
          <a:xfrm>
            <a:off x="2395728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oy marker 5"/>
          <p:cNvSpPr/>
          <p:nvPr/>
        </p:nvSpPr>
        <p:spPr>
          <a:xfrm>
            <a:off x="2889504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oy marker 6"/>
          <p:cNvSpPr/>
          <p:nvPr/>
        </p:nvSpPr>
        <p:spPr>
          <a:xfrm>
            <a:off x="3383280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oy marker 7"/>
          <p:cNvSpPr/>
          <p:nvPr/>
        </p:nvSpPr>
        <p:spPr>
          <a:xfrm>
            <a:off x="3877056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oy marker 8"/>
          <p:cNvSpPr/>
          <p:nvPr/>
        </p:nvSpPr>
        <p:spPr>
          <a:xfrm>
            <a:off x="4370832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y marker 9"/>
          <p:cNvSpPr/>
          <p:nvPr/>
        </p:nvSpPr>
        <p:spPr>
          <a:xfrm>
            <a:off x="4864608" y="4983480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oy marker 10"/>
          <p:cNvSpPr/>
          <p:nvPr/>
        </p:nvSpPr>
        <p:spPr>
          <a:xfrm>
            <a:off x="5358384" y="4983480"/>
            <a:ext cx="384048" cy="384048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xamples label"/>
          <p:cNvSpPr txBox="1"/>
          <p:nvPr/>
        </p:nvSpPr>
        <p:spPr>
          <a:xfrm>
            <a:off x="676656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0"/>
                </a:solidFill>
                <a:latin typeface="Calibri"/>
              </a:rPr>
              <a:t>EXAMPLES</a:t>
            </a:r>
          </a:p>
        </p:txBody>
      </p:sp>
      <p:sp>
        <p:nvSpPr>
          <p:cNvPr id="19" name="Key points"/>
          <p:cNvSpPr txBox="1"/>
          <p:nvPr/>
        </p:nvSpPr>
        <p:spPr>
          <a:xfrm>
            <a:off x="6766560" y="2240280"/>
            <a:ext cx="487649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2A78D6"/>
              </a:buClr>
              <a:buFont typeface="Arial"/>
              <a:buChar char="•"/>
            </a:pPr>
            <a:r>
              <a:rPr sz="2000" b="0">
                <a:solidFill>
                  <a:srgbClr val="1B2733"/>
                </a:solidFill>
                <a:latin typeface="Calibri"/>
              </a:rPr>
              <a:t>Jenga peaked in Jul 2022 and is now </a:t>
            </a:r>
            <a:r>
              <a:rPr sz="2000" b="1">
                <a:solidFill>
                  <a:srgbClr val="1B2733"/>
                </a:solidFill>
                <a:latin typeface="Calibri"/>
              </a:rPr>
              <a:t>down 92%</a:t>
            </a:r>
          </a:p>
          <a:p>
            <a:pPr marL="285750" indent="-285750">
              <a:spcAft>
                <a:spcPts val="1600"/>
              </a:spcAft>
              <a:buClr>
                <a:srgbClr val="2A78D6"/>
              </a:buClr>
              <a:buFont typeface="Arial"/>
              <a:buChar char="•"/>
            </a:pPr>
            <a:r>
              <a:rPr sz="2000" b="0">
                <a:solidFill>
                  <a:srgbClr val="1B2733"/>
                </a:solidFill>
                <a:latin typeface="Calibri"/>
              </a:rPr>
              <a:t>Etch A Sketch peaked its second month and is </a:t>
            </a:r>
            <a:r>
              <a:rPr sz="2000" b="1">
                <a:solidFill>
                  <a:srgbClr val="1B2733"/>
                </a:solidFill>
                <a:latin typeface="Calibri"/>
              </a:rPr>
              <a:t>down 56%</a:t>
            </a:r>
          </a:p>
          <a:p>
            <a:pPr marL="285750" indent="-285750">
              <a:spcAft>
                <a:spcPts val="1600"/>
              </a:spcAft>
              <a:buClr>
                <a:srgbClr val="2A78D6"/>
              </a:buClr>
              <a:buFont typeface="Arial"/>
              <a:buChar char="•"/>
            </a:pPr>
            <a:r>
              <a:rPr sz="2000" b="0">
                <a:solidFill>
                  <a:srgbClr val="1B2733"/>
                </a:solidFill>
                <a:latin typeface="Calibri"/>
              </a:rPr>
              <a:t>Hot Wheels is the </a:t>
            </a:r>
            <a:r>
              <a:rPr sz="2000" b="1">
                <a:solidFill>
                  <a:srgbClr val="1B2733"/>
                </a:solidFill>
                <a:latin typeface="Calibri"/>
              </a:rPr>
              <a:t>lone exception</a:t>
            </a:r>
            <a:r>
              <a:rPr sz="2000" b="0">
                <a:solidFill>
                  <a:srgbClr val="1B2733"/>
                </a:solidFill>
                <a:latin typeface="Calibri"/>
              </a:rPr>
              <a:t>, down just 9%</a:t>
            </a:r>
          </a:p>
          <a:p>
            <a:pPr marL="285750" indent="-285750">
              <a:spcAft>
                <a:spcPts val="1600"/>
              </a:spcAft>
              <a:buClr>
                <a:srgbClr val="2A78D6"/>
              </a:buClr>
              <a:buFont typeface="Arial"/>
              <a:buChar char="•"/>
            </a:pPr>
            <a:r>
              <a:rPr sz="2000" b="0">
                <a:solidFill>
                  <a:srgbClr val="1B2733"/>
                </a:solidFill>
                <a:latin typeface="Calibri"/>
              </a:rPr>
              <a:t>Colorbuds follows the </a:t>
            </a:r>
            <a:r>
              <a:rPr sz="2000" b="1">
                <a:solidFill>
                  <a:srgbClr val="1B2733"/>
                </a:solidFill>
                <a:latin typeface="Calibri"/>
              </a:rPr>
              <a:t>same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51C2C"/>
                </a:solidFill>
                <a:latin typeface="Cambria"/>
              </a:rPr>
              <a:t>Playfoam is the early bright spot, but 13 empty stores are costing us about $5K a month</a:t>
            </a:r>
          </a:p>
        </p:txBody>
      </p:sp>
      <p:sp>
        <p:nvSpPr>
          <p:cNvPr id="3" name="Source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Calibri"/>
              </a:rPr>
              <a:t>Source: Maven Toys sales data, Jan 2022 – Sep 2023. Profit is estimated from current price and cost.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326880" y="6382512"/>
            <a:ext cx="2316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Calibri"/>
              </a:rPr>
              <a:t>Maven Toys   |   5</a:t>
            </a:r>
          </a:p>
        </p:txBody>
      </p:sp>
      <p:sp>
        <p:nvSpPr>
          <p:cNvPr id="5" name="Chart label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0"/>
                </a:solidFill>
                <a:latin typeface="Calibri"/>
              </a:rPr>
              <a:t>PLAYFOAM UNITS SOLD PER MONTH</a:t>
            </a:r>
          </a:p>
        </p:txBody>
      </p:sp>
      <p:graphicFrame>
        <p:nvGraphicFramePr>
          <p:cNvPr id="6" name="Playfoam monthly units"/>
          <p:cNvGraphicFramePr>
            <a:graphicFrameLocks noGrp="1"/>
          </p:cNvGraphicFramePr>
          <p:nvPr/>
        </p:nvGraphicFramePr>
        <p:xfrm>
          <a:off x="548640" y="2011680"/>
          <a:ext cx="58521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tat panel 1"/>
          <p:cNvSpPr/>
          <p:nvPr/>
        </p:nvSpPr>
        <p:spPr>
          <a:xfrm>
            <a:off x="6858000" y="1691640"/>
            <a:ext cx="4785055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 title 1"/>
          <p:cNvSpPr txBox="1"/>
          <p:nvPr/>
        </p:nvSpPr>
        <p:spPr>
          <a:xfrm>
            <a:off x="7132320" y="18745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E8F63"/>
                </a:solidFill>
                <a:latin typeface="Cambria"/>
              </a:rPr>
              <a:t>64% margin</a:t>
            </a:r>
          </a:p>
        </p:txBody>
      </p:sp>
      <p:sp>
        <p:nvSpPr>
          <p:cNvPr id="9" name="Stat note 1"/>
          <p:cNvSpPr txBox="1"/>
          <p:nvPr/>
        </p:nvSpPr>
        <p:spPr>
          <a:xfrm>
            <a:off x="7132320" y="249631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B2733"/>
                </a:solidFill>
                <a:latin typeface="Calibri"/>
              </a:rPr>
              <a:t>$7 profit on every unit</a:t>
            </a:r>
          </a:p>
        </p:txBody>
      </p:sp>
      <p:sp>
        <p:nvSpPr>
          <p:cNvPr id="10" name="Stat panel 2"/>
          <p:cNvSpPr/>
          <p:nvPr/>
        </p:nvSpPr>
        <p:spPr>
          <a:xfrm>
            <a:off x="6858000" y="3154680"/>
            <a:ext cx="4785055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 title 2"/>
          <p:cNvSpPr txBox="1"/>
          <p:nvPr/>
        </p:nvSpPr>
        <p:spPr>
          <a:xfrm>
            <a:off x="7132320" y="333756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D9531E"/>
                </a:solidFill>
                <a:latin typeface="Cambria"/>
              </a:rPr>
              <a:t>13 stores out of stock</a:t>
            </a:r>
          </a:p>
        </p:txBody>
      </p:sp>
      <p:sp>
        <p:nvSpPr>
          <p:cNvPr id="12" name="Stat note 2"/>
          <p:cNvSpPr txBox="1"/>
          <p:nvPr/>
        </p:nvSpPr>
        <p:spPr>
          <a:xfrm>
            <a:off x="7132320" y="39593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B2733"/>
                </a:solidFill>
                <a:latin typeface="Calibri"/>
              </a:rPr>
              <a:t>about $5K a month left on the table</a:t>
            </a:r>
          </a:p>
        </p:txBody>
      </p:sp>
      <p:sp>
        <p:nvSpPr>
          <p:cNvPr id="13" name="Key points"/>
          <p:cNvSpPr txBox="1"/>
          <p:nvPr/>
        </p:nvSpPr>
        <p:spPr>
          <a:xfrm>
            <a:off x="6858000" y="4663440"/>
            <a:ext cx="478505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800" b="0">
                <a:solidFill>
                  <a:srgbClr val="1B2733"/>
                </a:solidFill>
                <a:latin typeface="Calibri"/>
              </a:rPr>
              <a:t>Launched Aug 17 and already a </a:t>
            </a:r>
            <a:r>
              <a:rPr sz="1800" b="1">
                <a:solidFill>
                  <a:srgbClr val="1B2733"/>
                </a:solidFill>
                <a:latin typeface="Calibri"/>
              </a:rPr>
              <a:t>top-5 profit toy</a:t>
            </a:r>
          </a:p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800" b="0">
                <a:solidFill>
                  <a:srgbClr val="1B2733"/>
                </a:solidFill>
                <a:latin typeface="Calibri"/>
              </a:rPr>
              <a:t>New toys often cool off, so </a:t>
            </a:r>
            <a:r>
              <a:rPr sz="1800" b="1">
                <a:solidFill>
                  <a:srgbClr val="1B2733"/>
                </a:solidFill>
                <a:latin typeface="Calibri"/>
              </a:rPr>
              <a:t>the window to act is short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51C2C"/>
                </a:solidFill>
                <a:latin typeface="Cambria"/>
              </a:rPr>
              <a:t>We recommend three moves: back newer, higher-margin toys, test one Colorbuds fix, and review in 8 weeks</a:t>
            </a:r>
          </a:p>
        </p:txBody>
      </p:sp>
      <p:sp>
        <p:nvSpPr>
          <p:cNvPr id="3" name="Source"/>
          <p:cNvSpPr txBox="1"/>
          <p:nvPr/>
        </p:nvSpPr>
        <p:spPr>
          <a:xfrm>
            <a:off x="54864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Calibri"/>
              </a:rPr>
              <a:t>Source: Maven Toys sales data, Jan 2022 – Sep 2023. Profit is estimated from current price and cost.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326880" y="6382512"/>
            <a:ext cx="2316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Calibri"/>
              </a:rPr>
              <a:t>Maven Toys   |   6</a:t>
            </a:r>
          </a:p>
        </p:txBody>
      </p:sp>
      <p:sp>
        <p:nvSpPr>
          <p:cNvPr id="5" name="Panel 1"/>
          <p:cNvSpPr/>
          <p:nvPr/>
        </p:nvSpPr>
        <p:spPr>
          <a:xfrm>
            <a:off x="548640" y="1783080"/>
            <a:ext cx="3515258" cy="397763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 1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solidFill>
            <a:srgbClr val="0E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Step 1"/>
          <p:cNvSpPr txBox="1"/>
          <p:nvPr/>
        </p:nvSpPr>
        <p:spPr>
          <a:xfrm>
            <a:off x="914400" y="3017520"/>
            <a:ext cx="278373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  <a:latin typeface="Cambria"/>
              </a:rPr>
              <a:t>Keep Playfoam in stock</a:t>
            </a:r>
          </a:p>
        </p:txBody>
      </p:sp>
      <p:sp>
        <p:nvSpPr>
          <p:cNvPr id="8" name="Step 1 details"/>
          <p:cNvSpPr txBox="1"/>
          <p:nvPr/>
        </p:nvSpPr>
        <p:spPr>
          <a:xfrm>
            <a:off x="914400" y="4206240"/>
            <a:ext cx="278373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700" b="0">
                <a:solidFill>
                  <a:srgbClr val="1B2733"/>
                </a:solidFill>
                <a:latin typeface="Calibri"/>
              </a:rPr>
              <a:t>Refill the </a:t>
            </a:r>
            <a:r>
              <a:rPr sz="1700" b="1">
                <a:solidFill>
                  <a:srgbClr val="1B2733"/>
                </a:solidFill>
                <a:latin typeface="Calibri"/>
              </a:rPr>
              <a:t>13 empty stores</a:t>
            </a:r>
          </a:p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700" b="0">
                <a:solidFill>
                  <a:srgbClr val="1B2733"/>
                </a:solidFill>
                <a:latin typeface="Calibri"/>
              </a:rPr>
              <a:t>Check weekly; worth about </a:t>
            </a:r>
            <a:r>
              <a:rPr sz="1700" b="1">
                <a:solidFill>
                  <a:srgbClr val="1B2733"/>
                </a:solidFill>
                <a:latin typeface="Calibri"/>
              </a:rPr>
              <a:t>$5K a month</a:t>
            </a:r>
          </a:p>
        </p:txBody>
      </p:sp>
      <p:sp>
        <p:nvSpPr>
          <p:cNvPr id="9" name="Panel 2"/>
          <p:cNvSpPr/>
          <p:nvPr/>
        </p:nvSpPr>
        <p:spPr>
          <a:xfrm>
            <a:off x="4338218" y="1783080"/>
            <a:ext cx="3515258" cy="397763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ber 2"/>
          <p:cNvSpPr/>
          <p:nvPr/>
        </p:nvSpPr>
        <p:spPr>
          <a:xfrm>
            <a:off x="4703978" y="2103120"/>
            <a:ext cx="640080" cy="64008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Step 2"/>
          <p:cNvSpPr txBox="1"/>
          <p:nvPr/>
        </p:nvSpPr>
        <p:spPr>
          <a:xfrm>
            <a:off x="4703978" y="3017520"/>
            <a:ext cx="278373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  <a:latin typeface="Cambria"/>
              </a:rPr>
              <a:t>Test one Colorbuds fix</a:t>
            </a:r>
          </a:p>
        </p:txBody>
      </p:sp>
      <p:sp>
        <p:nvSpPr>
          <p:cNvPr id="12" name="Step 2 details"/>
          <p:cNvSpPr txBox="1"/>
          <p:nvPr/>
        </p:nvSpPr>
        <p:spPr>
          <a:xfrm>
            <a:off x="4703978" y="4206240"/>
            <a:ext cx="278373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700" b="1">
                <a:solidFill>
                  <a:srgbClr val="1B2733"/>
                </a:solidFill>
                <a:latin typeface="Calibri"/>
              </a:rPr>
              <a:t>10 test stores</a:t>
            </a:r>
            <a:r>
              <a:rPr sz="1700" b="0">
                <a:solidFill>
                  <a:srgbClr val="1B2733"/>
                </a:solidFill>
                <a:latin typeface="Calibri"/>
              </a:rPr>
              <a:t> vs 10 similar ones</a:t>
            </a:r>
          </a:p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700" b="0">
                <a:solidFill>
                  <a:srgbClr val="1B2733"/>
                </a:solidFill>
                <a:latin typeface="Calibri"/>
              </a:rPr>
              <a:t>Up to about </a:t>
            </a:r>
            <a:r>
              <a:rPr sz="1700" b="1">
                <a:solidFill>
                  <a:srgbClr val="1B2733"/>
                </a:solidFill>
                <a:latin typeface="Calibri"/>
              </a:rPr>
              <a:t>$11K a month</a:t>
            </a:r>
            <a:r>
              <a:rPr sz="1700" b="0">
                <a:solidFill>
                  <a:srgbClr val="1B2733"/>
                </a:solidFill>
                <a:latin typeface="Calibri"/>
              </a:rPr>
              <a:t> if it works</a:t>
            </a:r>
          </a:p>
        </p:txBody>
      </p:sp>
      <p:sp>
        <p:nvSpPr>
          <p:cNvPr id="13" name="Panel 3"/>
          <p:cNvSpPr/>
          <p:nvPr/>
        </p:nvSpPr>
        <p:spPr>
          <a:xfrm>
            <a:off x="8127796" y="1783080"/>
            <a:ext cx="3515258" cy="397763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mber 3"/>
          <p:cNvSpPr/>
          <p:nvPr/>
        </p:nvSpPr>
        <p:spPr>
          <a:xfrm>
            <a:off x="8493556" y="2103120"/>
            <a:ext cx="640080" cy="6400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Step 3"/>
          <p:cNvSpPr txBox="1"/>
          <p:nvPr/>
        </p:nvSpPr>
        <p:spPr>
          <a:xfrm>
            <a:off x="8493556" y="3017520"/>
            <a:ext cx="278373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  <a:latin typeface="Cambria"/>
              </a:rPr>
              <a:t>Review in 8 weeks</a:t>
            </a:r>
          </a:p>
        </p:txBody>
      </p:sp>
      <p:sp>
        <p:nvSpPr>
          <p:cNvPr id="16" name="Step 3 details"/>
          <p:cNvSpPr txBox="1"/>
          <p:nvPr/>
        </p:nvSpPr>
        <p:spPr>
          <a:xfrm>
            <a:off x="8493556" y="4206240"/>
            <a:ext cx="278373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700" b="1">
                <a:solidFill>
                  <a:srgbClr val="1B2733"/>
                </a:solidFill>
                <a:latin typeface="Calibri"/>
              </a:rPr>
              <a:t>Scale what works</a:t>
            </a:r>
            <a:r>
              <a:rPr sz="1700" b="0">
                <a:solidFill>
                  <a:srgbClr val="1B2733"/>
                </a:solidFill>
                <a:latin typeface="Calibri"/>
              </a:rPr>
              <a:t>, stop what doesn't</a:t>
            </a:r>
          </a:p>
          <a:p>
            <a:pPr marL="285750" indent="-285750">
              <a:spcAft>
                <a:spcPts val="1000"/>
              </a:spcAft>
              <a:buClr>
                <a:srgbClr val="2A78D6"/>
              </a:buClr>
              <a:buFont typeface="Arial"/>
              <a:buChar char="•"/>
            </a:pPr>
            <a:r>
              <a:rPr sz="1700" b="0">
                <a:solidFill>
                  <a:srgbClr val="1B2733"/>
                </a:solidFill>
                <a:latin typeface="Calibri"/>
              </a:rPr>
              <a:t>Pick the next </a:t>
            </a:r>
            <a:r>
              <a:rPr sz="1700" b="1">
                <a:solidFill>
                  <a:srgbClr val="1B2733"/>
                </a:solidFill>
                <a:latin typeface="Calibri"/>
              </a:rPr>
              <a:t>higher-margin toy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#1 profit toy, Colorbuds, is in decline</dc:title>
  <dc:subject>Business review</dc:subject>
  <dc:creator>Maven Toys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