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6350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4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4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E8457B"/>
                        </a:solidFill>
                        <a:latin typeface="Trebuchet MS"/>
                      </a:rPr>
                      <a:t>8,110</a:t>
                    </a:r>
                  </a:p>
                  <a:p>
                    <a:r>
                      <a:rPr sz="1400">
                        <a:solidFill>
                          <a:srgbClr val="6B656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E8457B"/>
                        </a:solidFill>
                        <a:latin typeface="Trebuchet MS"/>
                      </a:rPr>
                      <a:t>2,594</a:t>
                    </a:r>
                  </a:p>
                  <a:p>
                    <a:r>
                      <a:rPr sz="1400">
                        <a:solidFill>
                          <a:srgbClr val="6B656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 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 22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 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 23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4CC"/>
            </a:solidFill>
          </a:ln>
        </c:spPr>
        <c:txPr>
          <a:bodyPr rot="0" vert="horz"/>
          <a:lstStyle/>
          <a:p>
            <a:pPr>
              <a:defRPr sz="1400">
                <a:solidFill>
                  <a:srgbClr val="6B656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800" b="1">
                  <a:solidFill>
                    <a:srgbClr val="1BAF7A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4CC"/>
            </a:solidFill>
          </a:ln>
        </c:spPr>
        <c:txPr>
          <a:bodyPr/>
          <a:lstStyle/>
          <a:p>
            <a:pPr>
              <a:defRPr sz="1600">
                <a:solidFill>
                  <a:srgbClr val="6B656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Colorbuds, our top profit toy, is fading.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one cheap Colorbuds fix: refresh, bundle with Gamer Headphones, or better shelf placement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78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ogo block 1"/>
          <p:cNvSpPr/>
          <p:nvPr/>
        </p:nvSpPr>
        <p:spPr>
          <a:xfrm>
            <a:off x="640080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block 2"/>
          <p:cNvSpPr/>
          <p:nvPr/>
        </p:nvSpPr>
        <p:spPr>
          <a:xfrm>
            <a:off x="822959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3"/>
          <p:cNvSpPr/>
          <p:nvPr/>
        </p:nvSpPr>
        <p:spPr>
          <a:xfrm>
            <a:off x="1005840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D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wordmark"/>
          <p:cNvSpPr txBox="1"/>
          <p:nvPr/>
        </p:nvSpPr>
        <p:spPr>
          <a:xfrm>
            <a:off x="1280160" y="5029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Maven Toys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103120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Trebuchet MS"/>
              </a:rPr>
              <a:t>Colorbuds is fading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40080" y="36118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E08A"/>
                </a:solidFill>
                <a:latin typeface="Trebuchet MS"/>
              </a:rPr>
              <a:t>What to do next</a:t>
            </a:r>
          </a:p>
        </p:txBody>
      </p:sp>
      <p:sp>
        <p:nvSpPr>
          <p:cNvPr id="8" name="Date line"/>
          <p:cNvSpPr txBox="1"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CE9FB"/>
                </a:solidFill>
                <a:latin typeface="Calibri"/>
              </a:rPr>
              <a:t>Business review · Data through Sep 30, 2023</a:t>
            </a:r>
          </a:p>
        </p:txBody>
      </p:sp>
      <p:sp>
        <p:nvSpPr>
          <p:cNvPr id="9" name="Block r0c0"/>
          <p:cNvSpPr/>
          <p:nvPr/>
        </p:nvSpPr>
        <p:spPr>
          <a:xfrm>
            <a:off x="8001000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ud r0c0"/>
          <p:cNvSpPr/>
          <p:nvPr/>
        </p:nvSpPr>
        <p:spPr>
          <a:xfrm>
            <a:off x="8183879" y="5623560"/>
            <a:ext cx="347472" cy="182880"/>
          </a:xfrm>
          <a:prstGeom prst="ellipse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ud r0c0"/>
          <p:cNvSpPr/>
          <p:nvPr/>
        </p:nvSpPr>
        <p:spPr>
          <a:xfrm>
            <a:off x="8659368" y="5623560"/>
            <a:ext cx="347472" cy="182880"/>
          </a:xfrm>
          <a:prstGeom prst="ellipse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lock r0c1"/>
          <p:cNvSpPr/>
          <p:nvPr/>
        </p:nvSpPr>
        <p:spPr>
          <a:xfrm>
            <a:off x="9244584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ud r0c1"/>
          <p:cNvSpPr/>
          <p:nvPr/>
        </p:nvSpPr>
        <p:spPr>
          <a:xfrm>
            <a:off x="9427463" y="5623560"/>
            <a:ext cx="347472" cy="182880"/>
          </a:xfrm>
          <a:prstGeom prst="ellipse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ud r0c1"/>
          <p:cNvSpPr/>
          <p:nvPr/>
        </p:nvSpPr>
        <p:spPr>
          <a:xfrm>
            <a:off x="9902952" y="5623560"/>
            <a:ext cx="347472" cy="182880"/>
          </a:xfrm>
          <a:prstGeom prst="ellipse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lock r0c2"/>
          <p:cNvSpPr/>
          <p:nvPr/>
        </p:nvSpPr>
        <p:spPr>
          <a:xfrm>
            <a:off x="10488168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ud r0c2"/>
          <p:cNvSpPr/>
          <p:nvPr/>
        </p:nvSpPr>
        <p:spPr>
          <a:xfrm>
            <a:off x="10671048" y="5623560"/>
            <a:ext cx="347472" cy="18288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ud r0c2"/>
          <p:cNvSpPr/>
          <p:nvPr/>
        </p:nvSpPr>
        <p:spPr>
          <a:xfrm>
            <a:off x="11146536" y="5623560"/>
            <a:ext cx="347472" cy="18288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lock r1c0"/>
          <p:cNvSpPr/>
          <p:nvPr/>
        </p:nvSpPr>
        <p:spPr>
          <a:xfrm>
            <a:off x="8622792" y="4928616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ud r1c0"/>
          <p:cNvSpPr/>
          <p:nvPr/>
        </p:nvSpPr>
        <p:spPr>
          <a:xfrm>
            <a:off x="8805672" y="4837176"/>
            <a:ext cx="347472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ud r1c0"/>
          <p:cNvSpPr/>
          <p:nvPr/>
        </p:nvSpPr>
        <p:spPr>
          <a:xfrm>
            <a:off x="9281160" y="4837176"/>
            <a:ext cx="347472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lock r1c1"/>
          <p:cNvSpPr/>
          <p:nvPr/>
        </p:nvSpPr>
        <p:spPr>
          <a:xfrm>
            <a:off x="9866376" y="4928616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ud r1c1"/>
          <p:cNvSpPr/>
          <p:nvPr/>
        </p:nvSpPr>
        <p:spPr>
          <a:xfrm>
            <a:off x="10049255" y="4837176"/>
            <a:ext cx="347472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ud r1c1"/>
          <p:cNvSpPr/>
          <p:nvPr/>
        </p:nvSpPr>
        <p:spPr>
          <a:xfrm>
            <a:off x="10524744" y="4837176"/>
            <a:ext cx="347472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lock r2c0"/>
          <p:cNvSpPr/>
          <p:nvPr/>
        </p:nvSpPr>
        <p:spPr>
          <a:xfrm>
            <a:off x="9244584" y="4142231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ud r2c0"/>
          <p:cNvSpPr/>
          <p:nvPr/>
        </p:nvSpPr>
        <p:spPr>
          <a:xfrm>
            <a:off x="9427463" y="4050791"/>
            <a:ext cx="347472" cy="182880"/>
          </a:xfrm>
          <a:prstGeom prst="ellipse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ud r2c0"/>
          <p:cNvSpPr/>
          <p:nvPr/>
        </p:nvSpPr>
        <p:spPr>
          <a:xfrm>
            <a:off x="9902952" y="4050791"/>
            <a:ext cx="347472" cy="182880"/>
          </a:xfrm>
          <a:prstGeom prst="ellipse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One toy fell. Another is rising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2</a:t>
            </a:r>
          </a:p>
        </p:txBody>
      </p:sp>
      <p:sp>
        <p:nvSpPr>
          <p:cNvPr id="9" name="Card 1"/>
          <p:cNvSpPr/>
          <p:nvPr/>
        </p:nvSpPr>
        <p:spPr>
          <a:xfrm>
            <a:off x="640080" y="1783080"/>
            <a:ext cx="5193792" cy="4114800"/>
          </a:xfrm>
          <a:prstGeom prst="roundRect">
            <a:avLst>
              <a:gd name="adj" fmla="val 6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g number 1"/>
          <p:cNvSpPr txBox="1"/>
          <p:nvPr/>
        </p:nvSpPr>
        <p:spPr>
          <a:xfrm>
            <a:off x="1005840" y="2331720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E8457B"/>
                </a:solidFill>
                <a:latin typeface="Trebuchet MS"/>
              </a:rPr>
              <a:t>28% → 13%</a:t>
            </a:r>
          </a:p>
        </p:txBody>
      </p:sp>
      <p:sp>
        <p:nvSpPr>
          <p:cNvPr id="11" name="Label 1"/>
          <p:cNvSpPr txBox="1"/>
          <p:nvPr/>
        </p:nvSpPr>
        <p:spPr>
          <a:xfrm>
            <a:off x="1005840" y="41148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1A17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12" name="Caption 1"/>
          <p:cNvSpPr txBox="1"/>
          <p:nvPr/>
        </p:nvSpPr>
        <p:spPr>
          <a:xfrm>
            <a:off x="1005840" y="46634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B6560"/>
                </a:solidFill>
                <a:latin typeface="Calibri"/>
              </a:rPr>
              <a:t>Q3 2022 to Q3 2023</a:t>
            </a:r>
          </a:p>
        </p:txBody>
      </p:sp>
      <p:sp>
        <p:nvSpPr>
          <p:cNvPr id="13" name="Card 2"/>
          <p:cNvSpPr/>
          <p:nvPr/>
        </p:nvSpPr>
        <p:spPr>
          <a:xfrm>
            <a:off x="6355080" y="1783080"/>
            <a:ext cx="5193792" cy="4114800"/>
          </a:xfrm>
          <a:prstGeom prst="roundRect">
            <a:avLst>
              <a:gd name="adj" fmla="val 6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ig number 2"/>
          <p:cNvSpPr txBox="1"/>
          <p:nvPr/>
        </p:nvSpPr>
        <p:spPr>
          <a:xfrm>
            <a:off x="6720840" y="2331720"/>
            <a:ext cx="44805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0" b="1">
                <a:solidFill>
                  <a:srgbClr val="1BAF7A"/>
                </a:solidFill>
                <a:latin typeface="Trebuchet MS"/>
              </a:rPr>
              <a:t>$20K</a:t>
            </a:r>
          </a:p>
        </p:txBody>
      </p:sp>
      <p:sp>
        <p:nvSpPr>
          <p:cNvPr id="15" name="Label 2"/>
          <p:cNvSpPr txBox="1"/>
          <p:nvPr/>
        </p:nvSpPr>
        <p:spPr>
          <a:xfrm>
            <a:off x="6720840" y="41148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1A17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6" name="Caption 2"/>
          <p:cNvSpPr txBox="1"/>
          <p:nvPr/>
        </p:nvSpPr>
        <p:spPr>
          <a:xfrm>
            <a:off x="6720840" y="46634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B6560"/>
                </a:solidFill>
                <a:latin typeface="Calibri"/>
              </a:rPr>
              <a:t>at its September 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Colorbuds sales are down 68%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3</a:t>
            </a:r>
          </a:p>
        </p:txBody>
      </p:sp>
      <p:graphicFrame>
        <p:nvGraphicFramePr>
          <p:cNvPr id="9" name="Colorbuds monthly units"/>
          <p:cNvGraphicFramePr>
            <a:graphicFrameLocks noGrp="1"/>
          </p:cNvGraphicFramePr>
          <p:nvPr/>
        </p:nvGraphicFramePr>
        <p:xfrm>
          <a:off x="640080" y="1874519"/>
          <a:ext cx="108813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hart caption"/>
          <p:cNvSpPr txBox="1"/>
          <p:nvPr/>
        </p:nvSpPr>
        <p:spPr>
          <a:xfrm>
            <a:off x="640080" y="1417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units per month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Most toys fade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4</a:t>
            </a:r>
          </a:p>
        </p:txBody>
      </p:sp>
      <p:sp>
        <p:nvSpPr>
          <p:cNvPr id="9" name="Big number"/>
          <p:cNvSpPr txBox="1"/>
          <p:nvPr/>
        </p:nvSpPr>
        <p:spPr>
          <a:xfrm>
            <a:off x="640080" y="155448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0" b="1">
                <a:solidFill>
                  <a:srgbClr val="EB6834"/>
                </a:solidFill>
                <a:latin typeface="Trebuchet MS"/>
              </a:rPr>
              <a:t>9 of 10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379476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0">
                <a:solidFill>
                  <a:srgbClr val="1F1A17"/>
                </a:solidFill>
                <a:latin typeface="Trebuchet MS"/>
              </a:rPr>
              <a:t>recent launches are 40%+ below their peak</a:t>
            </a:r>
          </a:p>
        </p:txBody>
      </p:sp>
      <p:sp>
        <p:nvSpPr>
          <p:cNvPr id="11" name="Toy block 1"/>
          <p:cNvSpPr/>
          <p:nvPr/>
        </p:nvSpPr>
        <p:spPr>
          <a:xfrm>
            <a:off x="1920240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stud 1"/>
          <p:cNvSpPr/>
          <p:nvPr/>
        </p:nvSpPr>
        <p:spPr>
          <a:xfrm>
            <a:off x="2121408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block 2"/>
          <p:cNvSpPr/>
          <p:nvPr/>
        </p:nvSpPr>
        <p:spPr>
          <a:xfrm>
            <a:off x="2770632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stud 2"/>
          <p:cNvSpPr/>
          <p:nvPr/>
        </p:nvSpPr>
        <p:spPr>
          <a:xfrm>
            <a:off x="2971800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block 3"/>
          <p:cNvSpPr/>
          <p:nvPr/>
        </p:nvSpPr>
        <p:spPr>
          <a:xfrm>
            <a:off x="3621024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stud 3"/>
          <p:cNvSpPr/>
          <p:nvPr/>
        </p:nvSpPr>
        <p:spPr>
          <a:xfrm>
            <a:off x="3822191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block 4"/>
          <p:cNvSpPr/>
          <p:nvPr/>
        </p:nvSpPr>
        <p:spPr>
          <a:xfrm>
            <a:off x="4471416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y stud 4"/>
          <p:cNvSpPr/>
          <p:nvPr/>
        </p:nvSpPr>
        <p:spPr>
          <a:xfrm>
            <a:off x="4672584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oy block 5"/>
          <p:cNvSpPr/>
          <p:nvPr/>
        </p:nvSpPr>
        <p:spPr>
          <a:xfrm>
            <a:off x="5321808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y stud 5"/>
          <p:cNvSpPr/>
          <p:nvPr/>
        </p:nvSpPr>
        <p:spPr>
          <a:xfrm>
            <a:off x="5522976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oy block 6"/>
          <p:cNvSpPr/>
          <p:nvPr/>
        </p:nvSpPr>
        <p:spPr>
          <a:xfrm>
            <a:off x="6172200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oy stud 6"/>
          <p:cNvSpPr/>
          <p:nvPr/>
        </p:nvSpPr>
        <p:spPr>
          <a:xfrm>
            <a:off x="6373368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oy block 7"/>
          <p:cNvSpPr/>
          <p:nvPr/>
        </p:nvSpPr>
        <p:spPr>
          <a:xfrm>
            <a:off x="7022592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oy stud 7"/>
          <p:cNvSpPr/>
          <p:nvPr/>
        </p:nvSpPr>
        <p:spPr>
          <a:xfrm>
            <a:off x="7223759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y block 8"/>
          <p:cNvSpPr/>
          <p:nvPr/>
        </p:nvSpPr>
        <p:spPr>
          <a:xfrm>
            <a:off x="7872984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y stud 8"/>
          <p:cNvSpPr/>
          <p:nvPr/>
        </p:nvSpPr>
        <p:spPr>
          <a:xfrm>
            <a:off x="8074152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oy block 9"/>
          <p:cNvSpPr/>
          <p:nvPr/>
        </p:nvSpPr>
        <p:spPr>
          <a:xfrm>
            <a:off x="8723376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oy stud 9"/>
          <p:cNvSpPr/>
          <p:nvPr/>
        </p:nvSpPr>
        <p:spPr>
          <a:xfrm>
            <a:off x="8924544" y="4754880"/>
            <a:ext cx="329184" cy="1645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oy block 10"/>
          <p:cNvSpPr/>
          <p:nvPr/>
        </p:nvSpPr>
        <p:spPr>
          <a:xfrm>
            <a:off x="9573768" y="4846320"/>
            <a:ext cx="731520" cy="731520"/>
          </a:xfrm>
          <a:prstGeom prst="roundRect">
            <a:avLst>
              <a:gd name="adj" fmla="val 18000"/>
            </a:avLst>
          </a:prstGeom>
          <a:solidFill>
            <a:srgbClr val="D9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oy stud 10"/>
          <p:cNvSpPr/>
          <p:nvPr/>
        </p:nvSpPr>
        <p:spPr>
          <a:xfrm>
            <a:off x="9774936" y="4754880"/>
            <a:ext cx="329184" cy="164592"/>
          </a:xfrm>
          <a:prstGeom prst="ellipse">
            <a:avLst/>
          </a:prstGeom>
          <a:solidFill>
            <a:srgbClr val="D9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Playfoam is taking off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5</a:t>
            </a:r>
          </a:p>
        </p:txBody>
      </p:sp>
      <p:graphicFrame>
        <p:nvGraphicFramePr>
          <p:cNvPr id="9" name="Playfoam monthly units"/>
          <p:cNvGraphicFramePr>
            <a:graphicFrameLocks noGrp="1"/>
          </p:cNvGraphicFramePr>
          <p:nvPr/>
        </p:nvGraphicFramePr>
        <p:xfrm>
          <a:off x="640080" y="1874519"/>
          <a:ext cx="667512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hart caption"/>
          <p:cNvSpPr txBox="1"/>
          <p:nvPr/>
        </p:nvSpPr>
        <p:spPr>
          <a:xfrm>
            <a:off x="640080" y="15544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units sold per month</a:t>
            </a:r>
          </a:p>
        </p:txBody>
      </p:sp>
      <p:sp>
        <p:nvSpPr>
          <p:cNvPr id="11" name="Badge 1"/>
          <p:cNvSpPr/>
          <p:nvPr/>
        </p:nvSpPr>
        <p:spPr>
          <a:xfrm>
            <a:off x="7772400" y="2011680"/>
            <a:ext cx="3749039" cy="1783080"/>
          </a:xfrm>
          <a:prstGeom prst="roundRect">
            <a:avLst>
              <a:gd name="adj" fmla="val 8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adge title 1"/>
          <p:cNvSpPr txBox="1"/>
          <p:nvPr/>
        </p:nvSpPr>
        <p:spPr>
          <a:xfrm>
            <a:off x="8046720" y="219456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BAF7A"/>
                </a:solidFill>
                <a:latin typeface="Trebuchet MS"/>
              </a:rPr>
              <a:t>64% margin</a:t>
            </a:r>
          </a:p>
        </p:txBody>
      </p:sp>
      <p:sp>
        <p:nvSpPr>
          <p:cNvPr id="13" name="Badge note 1"/>
          <p:cNvSpPr txBox="1"/>
          <p:nvPr/>
        </p:nvSpPr>
        <p:spPr>
          <a:xfrm>
            <a:off x="8046720" y="2788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1A17"/>
                </a:solidFill>
                <a:latin typeface="Calibri"/>
              </a:rPr>
              <a:t>$7 profit on every unit</a:t>
            </a:r>
          </a:p>
        </p:txBody>
      </p:sp>
      <p:sp>
        <p:nvSpPr>
          <p:cNvPr id="14" name="Badge 2"/>
          <p:cNvSpPr/>
          <p:nvPr/>
        </p:nvSpPr>
        <p:spPr>
          <a:xfrm>
            <a:off x="7772400" y="4069080"/>
            <a:ext cx="3749039" cy="1783080"/>
          </a:xfrm>
          <a:prstGeom prst="roundRect">
            <a:avLst>
              <a:gd name="adj" fmla="val 8000"/>
            </a:avLst>
          </a:prstGeom>
          <a:solidFill>
            <a:srgbClr val="FFE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 title 2"/>
          <p:cNvSpPr txBox="1"/>
          <p:nvPr/>
        </p:nvSpPr>
        <p:spPr>
          <a:xfrm>
            <a:off x="8046720" y="425196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B6834"/>
                </a:solidFill>
                <a:latin typeface="Trebuchet MS"/>
              </a:rPr>
              <a:t>13 stores are out of stock</a:t>
            </a:r>
          </a:p>
        </p:txBody>
      </p:sp>
      <p:sp>
        <p:nvSpPr>
          <p:cNvPr id="16" name="Badge note 2"/>
          <p:cNvSpPr txBox="1"/>
          <p:nvPr/>
        </p:nvSpPr>
        <p:spPr>
          <a:xfrm>
            <a:off x="8046720" y="5257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1A17"/>
                </a:solidFill>
                <a:latin typeface="Calibri"/>
              </a:rPr>
              <a:t>about $5K a month left on the 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Back newer, higher-margin toys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6</a:t>
            </a:r>
          </a:p>
        </p:txBody>
      </p:sp>
      <p:sp>
        <p:nvSpPr>
          <p:cNvPr id="9" name="Card 1"/>
          <p:cNvSpPr/>
          <p:nvPr/>
        </p:nvSpPr>
        <p:spPr>
          <a:xfrm>
            <a:off x="640080" y="2103120"/>
            <a:ext cx="3383280" cy="3383280"/>
          </a:xfrm>
          <a:prstGeom prst="roundRect">
            <a:avLst>
              <a:gd name="adj" fmla="val 7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badge 1"/>
          <p:cNvSpPr/>
          <p:nvPr/>
        </p:nvSpPr>
        <p:spPr>
          <a:xfrm>
            <a:off x="1005840" y="242316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Step 1"/>
          <p:cNvSpPr txBox="1"/>
          <p:nvPr/>
        </p:nvSpPr>
        <p:spPr>
          <a:xfrm>
            <a:off x="1005840" y="361188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1A17"/>
                </a:solidFill>
                <a:latin typeface="Trebuchet MS"/>
              </a:rPr>
              <a:t>Keep Playfoam in stock</a:t>
            </a:r>
          </a:p>
        </p:txBody>
      </p:sp>
      <p:sp>
        <p:nvSpPr>
          <p:cNvPr id="12" name="Card 2"/>
          <p:cNvSpPr/>
          <p:nvPr/>
        </p:nvSpPr>
        <p:spPr>
          <a:xfrm>
            <a:off x="4389120" y="2103120"/>
            <a:ext cx="3383280" cy="3383280"/>
          </a:xfrm>
          <a:prstGeom prst="roundRect">
            <a:avLst>
              <a:gd name="adj" fmla="val 7000"/>
            </a:avLst>
          </a:prstGeom>
          <a:solidFill>
            <a:srgbClr val="FFE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umber badge 2"/>
          <p:cNvSpPr/>
          <p:nvPr/>
        </p:nvSpPr>
        <p:spPr>
          <a:xfrm>
            <a:off x="4754880" y="2423160"/>
            <a:ext cx="914400" cy="91440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Step 2"/>
          <p:cNvSpPr txBox="1"/>
          <p:nvPr/>
        </p:nvSpPr>
        <p:spPr>
          <a:xfrm>
            <a:off x="4754880" y="361188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1A17"/>
                </a:solidFill>
                <a:latin typeface="Trebuchet MS"/>
              </a:rPr>
              <a:t>Test one Colorbuds fix</a:t>
            </a:r>
          </a:p>
        </p:txBody>
      </p:sp>
      <p:sp>
        <p:nvSpPr>
          <p:cNvPr id="15" name="Card 3"/>
          <p:cNvSpPr/>
          <p:nvPr/>
        </p:nvSpPr>
        <p:spPr>
          <a:xfrm>
            <a:off x="8138159" y="2103120"/>
            <a:ext cx="3383280" cy="3383280"/>
          </a:xfrm>
          <a:prstGeom prst="roundRect">
            <a:avLst>
              <a:gd name="adj" fmla="val 7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badge 3"/>
          <p:cNvSpPr/>
          <p:nvPr/>
        </p:nvSpPr>
        <p:spPr>
          <a:xfrm>
            <a:off x="8503919" y="2423160"/>
            <a:ext cx="914400" cy="91440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6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503919" y="361188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1A17"/>
                </a:solidFill>
                <a:latin typeface="Trebuchet MS"/>
              </a:rPr>
              <a:t>Review in 8 weeks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Colorbuds is fading: what to do next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