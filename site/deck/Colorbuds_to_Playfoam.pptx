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1BAF7A"/>
            </a:solidFill>
          </c:spPr>
          <c:dPt>
            <c:idx val="0"/>
            <c:spPr>
              <a:solidFill>
                <a:srgbClr val="A5E3CC"/>
              </a:solidFill>
            </c:spPr>
          </c:dPt>
          <c:cat>
            <c:strRef>
              <c:f>Sheet1!$A$2:$A$3</c:f>
              <c:strCache>
                <c:ptCount val="2"/>
                <c:pt idx="0">
                  <c:v>Aug (from the 17th)</c:v>
                </c:pt>
                <c:pt idx="1">
                  <c:v>Sep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1311</c:v>
                </c:pt>
                <c:pt idx="1">
                  <c:v>2847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6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500">
                <a:solidFill>
                  <a:srgbClr val="5B64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Colorbuds, our top profit toy, is fading.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one cheap Colorbuds fix: refresh, bundle with Gamer Headphones, or better shelf placement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Block r0c0"/>
          <p:cNvSpPr/>
          <p:nvPr/>
        </p:nvSpPr>
        <p:spPr>
          <a:xfrm>
            <a:off x="7818120" y="5623560"/>
            <a:ext cx="822960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lock r0c1"/>
          <p:cNvSpPr/>
          <p:nvPr/>
        </p:nvSpPr>
        <p:spPr>
          <a:xfrm>
            <a:off x="8732520" y="5623560"/>
            <a:ext cx="822960" cy="8229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lock r0c2"/>
          <p:cNvSpPr/>
          <p:nvPr/>
        </p:nvSpPr>
        <p:spPr>
          <a:xfrm>
            <a:off x="9646920" y="5623560"/>
            <a:ext cx="822960" cy="822960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lock r0c3"/>
          <p:cNvSpPr/>
          <p:nvPr/>
        </p:nvSpPr>
        <p:spPr>
          <a:xfrm>
            <a:off x="10561320" y="5623560"/>
            <a:ext cx="822960" cy="822960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r1c0"/>
          <p:cNvSpPr/>
          <p:nvPr/>
        </p:nvSpPr>
        <p:spPr>
          <a:xfrm>
            <a:off x="8275320" y="4709160"/>
            <a:ext cx="822960" cy="8229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r1c1"/>
          <p:cNvSpPr/>
          <p:nvPr/>
        </p:nvSpPr>
        <p:spPr>
          <a:xfrm>
            <a:off x="9189720" y="4709160"/>
            <a:ext cx="822960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lock r1c2"/>
          <p:cNvSpPr/>
          <p:nvPr/>
        </p:nvSpPr>
        <p:spPr>
          <a:xfrm>
            <a:off x="10104120" y="4709160"/>
            <a:ext cx="822960" cy="8229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lock r2c0"/>
          <p:cNvSpPr/>
          <p:nvPr/>
        </p:nvSpPr>
        <p:spPr>
          <a:xfrm>
            <a:off x="8732520" y="3794760"/>
            <a:ext cx="822960" cy="822960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lock r2c1"/>
          <p:cNvSpPr/>
          <p:nvPr/>
        </p:nvSpPr>
        <p:spPr>
          <a:xfrm>
            <a:off x="9646920" y="3794760"/>
            <a:ext cx="822960" cy="8229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lock r3c0"/>
          <p:cNvSpPr/>
          <p:nvPr/>
        </p:nvSpPr>
        <p:spPr>
          <a:xfrm>
            <a:off x="9189720" y="2880360"/>
            <a:ext cx="822960" cy="822960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itle"/>
          <p:cNvSpPr txBox="1"/>
          <p:nvPr/>
        </p:nvSpPr>
        <p:spPr>
          <a:xfrm>
            <a:off x="548640" y="1737360"/>
            <a:ext cx="6949440" cy="2331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Colorbuds is fading:</a:t>
            </a:r>
            <a:br/>
            <a:r>
              <a:rPr sz="4400" b="1">
                <a:solidFill>
                  <a:srgbClr val="FFFFFF"/>
                </a:solidFill>
                <a:latin typeface="Cambria"/>
              </a:rPr>
              <a:t>what to do next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548640" y="43434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$20K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At its September pace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Colorbuds is still our #1 profit toy, but its share has 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Playfoam launched in mid-August and is already a 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Playfoam's September pace is nearly half of the $44K a month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Down in 48 of 50 stores,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Every store still carries it, so this is 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Quarterly profit has roughly halved: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Hot Wheels is the lone exception, down just 9%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Colorbuds follows the same pattern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UNITS SOLD PER MONTH</a:t>
            </a:r>
          </a:p>
        </p:txBody>
      </p:sp>
      <p:graphicFrame>
        <p:nvGraphicFramePr>
          <p:cNvPr id="6" name="Playfoam monthly units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Launched Aug 17 and already a 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New toys often cool off, so 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We recommend three moves: back newer, higher-margin toys, test one Colorbuds fix, and review in 8 weeks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Keep Playfoam in stock</a:t>
            </a:r>
          </a:p>
        </p:txBody>
      </p:sp>
      <p:sp>
        <p:nvSpPr>
          <p:cNvPr id="8" name="Step 1 details"/>
          <p:cNvSpPr txBox="1"/>
          <p:nvPr/>
        </p:nvSpPr>
        <p:spPr>
          <a:xfrm>
            <a:off x="914400" y="420624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Refill the 13 empty stores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Check weekly; worth about $5K a month</a:t>
            </a:r>
          </a:p>
        </p:txBody>
      </p:sp>
      <p:sp>
        <p:nvSpPr>
          <p:cNvPr id="9" name="Panel 2"/>
          <p:cNvSpPr/>
          <p:nvPr/>
        </p:nvSpPr>
        <p:spPr>
          <a:xfrm>
            <a:off x="4338218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2"/>
          <p:cNvSpPr/>
          <p:nvPr/>
        </p:nvSpPr>
        <p:spPr>
          <a:xfrm>
            <a:off x="4703978" y="2103120"/>
            <a:ext cx="640080" cy="64008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Step 2"/>
          <p:cNvSpPr txBox="1"/>
          <p:nvPr/>
        </p:nvSpPr>
        <p:spPr>
          <a:xfrm>
            <a:off x="4703978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Test one Colorbuds fix</a:t>
            </a:r>
          </a:p>
        </p:txBody>
      </p:sp>
      <p:sp>
        <p:nvSpPr>
          <p:cNvPr id="12" name="Step 2 details"/>
          <p:cNvSpPr txBox="1"/>
          <p:nvPr/>
        </p:nvSpPr>
        <p:spPr>
          <a:xfrm>
            <a:off x="4703978" y="420624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10 test stores vs 10 similar ones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Up to about $11K a month if it works</a:t>
            </a:r>
          </a:p>
        </p:txBody>
      </p:sp>
      <p:sp>
        <p:nvSpPr>
          <p:cNvPr id="13" name="Panel 3"/>
          <p:cNvSpPr/>
          <p:nvPr/>
        </p:nvSpPr>
        <p:spPr>
          <a:xfrm>
            <a:off x="8127796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3"/>
          <p:cNvSpPr/>
          <p:nvPr/>
        </p:nvSpPr>
        <p:spPr>
          <a:xfrm>
            <a:off x="8493556" y="2103120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Step 3"/>
          <p:cNvSpPr txBox="1"/>
          <p:nvPr/>
        </p:nvSpPr>
        <p:spPr>
          <a:xfrm>
            <a:off x="8493556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6" name="Step 3 details"/>
          <p:cNvSpPr txBox="1"/>
          <p:nvPr/>
        </p:nvSpPr>
        <p:spPr>
          <a:xfrm>
            <a:off x="8493556" y="420624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Scale what works, stop what doesn't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Pick the next 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Colorbuds is fading: what to do next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