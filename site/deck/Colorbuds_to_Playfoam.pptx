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051C2C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2251FF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2251FF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2251FF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2251FF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Playfoam units</c:v>
                </c:pt>
              </c:strCache>
            </c:strRef>
          </c:tx>
          <c:spPr>
            <a:solidFill>
              <a:srgbClr val="2251FF"/>
            </a:solidFill>
          </c:spPr>
          <c:dPt>
            <c:idx val="0"/>
            <c:spPr>
              <a:solidFill>
                <a:srgbClr val="A9BCFF"/>
              </a:solidFill>
            </c:spPr>
          </c:dPt>
          <c:cat>
            <c:strRef>
              <c:f>Sheet1!$A$2:$A$3</c:f>
              <c:strCache>
                <c:ptCount val="2"/>
                <c:pt idx="0">
                  <c:v>Aug (from the 17th)</c:v>
                </c:pt>
                <c:pt idx="1">
                  <c:v>Sep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1311</c:v>
                </c:pt>
                <c:pt idx="1">
                  <c:v>2847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6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500">
                <a:solidFill>
                  <a:srgbClr val="5B64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Colorbuds, our top profit toy, is fading.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at zero and keep every store above about two weeks of sales (roughly 26 units a store); check weekly. Worth about $5K a month now. 2) Test one cheap Colorbuds fix: refresh, bundle with Gamer Headphones, or better shelf placement in about 10 stores against 10 similar control stores for six weeks. Winning back a quarter of the lost sales is worth up to about $11K a month. 3) Review at week 8: if the test stores sold about 15% more Colorbuds, scale the fix; if not, stop. Pick the next newer, higher-margin toy to back at the same review.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48640" y="2331720"/>
            <a:ext cx="9601200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Colorbuds is fading: what to do next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48640" y="43434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2251FF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PROFIT PER MONTH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2251FF"/>
                </a:solidFill>
                <a:latin typeface="Cambria"/>
              </a:rPr>
              <a:t>$20K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At its September pace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Colorbuds is still our #1 profit toy, but its share has more than halved</a:t>
            </a:r>
          </a:p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Playfoam launched in mid-August and is already a top-5 profit toy</a:t>
            </a:r>
          </a:p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Playfoam's September pace is nearly half of the $44K a month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251FF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Down in 48 of 50 stores, in every store type</a:t>
            </a:r>
          </a:p>
          <a:p>
            <a:pPr marL="285750" indent="-285750">
              <a:spcAft>
                <a:spcPts val="1400"/>
              </a:spcAft>
              <a:buClr>
                <a:srgbClr val="2251FF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Every store still carries it, so this is 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251FF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Quarterly profit has roughly halved: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2251FF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251FF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251FF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251FF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Hot Wheels is the lone exception, down just 9%</a:t>
            </a:r>
          </a:p>
          <a:p>
            <a:pPr marL="285750" indent="-285750">
              <a:spcAft>
                <a:spcPts val="1600"/>
              </a:spcAft>
              <a:buClr>
                <a:srgbClr val="2251FF"/>
              </a:buClr>
              <a:buFont typeface="Arial"/>
              <a:buChar char="•"/>
            </a:pPr>
            <a:r>
              <a:rPr sz="2000">
                <a:solidFill>
                  <a:srgbClr val="1B2733"/>
                </a:solidFill>
                <a:latin typeface="Calibri"/>
              </a:rPr>
              <a:t>Colorbuds follows the same pattern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UNITS SOLD PER MONTH</a:t>
            </a:r>
          </a:p>
        </p:txBody>
      </p:sp>
      <p:graphicFrame>
        <p:nvGraphicFramePr>
          <p:cNvPr id="6" name="Playfoam monthly units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2251FF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2251FF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Launched Aug 17 and already a top-5 profit toy</a:t>
            </a:r>
          </a:p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1800">
                <a:solidFill>
                  <a:srgbClr val="1B2733"/>
                </a:solidFill>
                <a:latin typeface="Calibri"/>
              </a:rPr>
              <a:t>New toys often cool off, so 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We recommend three moves: back newer, higher-margin toys, test one Colorbuds fix, and review in 8 weeks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Keep Playfoam in stock</a:t>
            </a:r>
          </a:p>
        </p:txBody>
      </p:sp>
      <p:sp>
        <p:nvSpPr>
          <p:cNvPr id="8" name="Step 1 details"/>
          <p:cNvSpPr txBox="1"/>
          <p:nvPr/>
        </p:nvSpPr>
        <p:spPr>
          <a:xfrm>
            <a:off x="914400" y="420624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Refill the 13 empty stores</a:t>
            </a:r>
          </a:p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Check weekly; worth about $5K a month</a:t>
            </a:r>
          </a:p>
        </p:txBody>
      </p:sp>
      <p:sp>
        <p:nvSpPr>
          <p:cNvPr id="9" name="Panel 2"/>
          <p:cNvSpPr/>
          <p:nvPr/>
        </p:nvSpPr>
        <p:spPr>
          <a:xfrm>
            <a:off x="4338218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 2"/>
          <p:cNvSpPr/>
          <p:nvPr/>
        </p:nvSpPr>
        <p:spPr>
          <a:xfrm>
            <a:off x="4703978" y="2103120"/>
            <a:ext cx="640080" cy="64008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Step 2"/>
          <p:cNvSpPr txBox="1"/>
          <p:nvPr/>
        </p:nvSpPr>
        <p:spPr>
          <a:xfrm>
            <a:off x="4703978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Test one Colorbuds fix</a:t>
            </a:r>
          </a:p>
        </p:txBody>
      </p:sp>
      <p:sp>
        <p:nvSpPr>
          <p:cNvPr id="12" name="Step 2 details"/>
          <p:cNvSpPr txBox="1"/>
          <p:nvPr/>
        </p:nvSpPr>
        <p:spPr>
          <a:xfrm>
            <a:off x="4703978" y="420624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10 test stores vs 10 similar ones</a:t>
            </a:r>
          </a:p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Up to about $11K a month if it works</a:t>
            </a:r>
          </a:p>
        </p:txBody>
      </p:sp>
      <p:sp>
        <p:nvSpPr>
          <p:cNvPr id="13" name="Panel 3"/>
          <p:cNvSpPr/>
          <p:nvPr/>
        </p:nvSpPr>
        <p:spPr>
          <a:xfrm>
            <a:off x="8127796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mber 3"/>
          <p:cNvSpPr/>
          <p:nvPr/>
        </p:nvSpPr>
        <p:spPr>
          <a:xfrm>
            <a:off x="8493556" y="2103120"/>
            <a:ext cx="640080" cy="640080"/>
          </a:xfrm>
          <a:prstGeom prst="rect">
            <a:avLst/>
          </a:prstGeom>
          <a:solidFill>
            <a:srgbClr val="05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Step 3"/>
          <p:cNvSpPr txBox="1"/>
          <p:nvPr/>
        </p:nvSpPr>
        <p:spPr>
          <a:xfrm>
            <a:off x="8493556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6" name="Step 3 details"/>
          <p:cNvSpPr txBox="1"/>
          <p:nvPr/>
        </p:nvSpPr>
        <p:spPr>
          <a:xfrm>
            <a:off x="8493556" y="420624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Scale what works, stop what doesn't</a:t>
            </a:r>
          </a:p>
          <a:p>
            <a:pPr marL="285750" indent="-285750">
              <a:spcAft>
                <a:spcPts val="1000"/>
              </a:spcAft>
              <a:buClr>
                <a:srgbClr val="2251FF"/>
              </a:buClr>
              <a:buFont typeface="Arial"/>
              <a:buChar char="•"/>
            </a:pPr>
            <a:r>
              <a:rPr sz="1700">
                <a:solidFill>
                  <a:srgbClr val="1B2733"/>
                </a:solidFill>
                <a:latin typeface="Calibri"/>
              </a:rPr>
              <a:t>Pick the next higher-margin toy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Colorbuds is fading: what to do next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