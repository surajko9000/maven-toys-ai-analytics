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Colorbuds units per month</c:v>
                </c:pt>
              </c:strCache>
            </c:strRef>
          </c:tx>
          <c:spPr>
            <a:ln w="44450">
              <a:solidFill>
                <a:srgbClr val="E8457B"/>
              </a:solidFill>
            </a:ln>
          </c:spPr>
          <c:marker>
            <c:symbol val="none"/>
          </c:marker>
          <c:dPt>
            <c:idx val="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Pt>
            <c:idx val="20"/>
            <c:marker>
              <c:symbol val="circle"/>
              <c:size val="11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8,110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Jan 2022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0"/>
              <c:tx>
                <c:rich>
                  <a:bodyPr/>
                  <a:lstStyle/>
                  <a:p>
                    <a:r>
                      <a:rPr sz="2200" b="1">
                        <a:solidFill>
                          <a:srgbClr val="D6336C"/>
                        </a:solidFill>
                        <a:latin typeface="Cambria"/>
                      </a:rPr>
                      <a:t>2,594</a:t>
                    </a:r>
                  </a:p>
                  <a:p>
                    <a:r>
                      <a:rPr sz="1300">
                        <a:solidFill>
                          <a:srgbClr val="5B6470"/>
                        </a:solidFill>
                        <a:latin typeface="Calibri"/>
                      </a:rPr>
                      <a:t>Sep 2023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Jan
’22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      </c:v>
                </c:pt>
                <c:pt idx="6">
                  <c:v>Jul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Jan
’23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Jul</c:v>
                </c:pt>
                <c:pt idx="19">
                  <c:v>                    </c:v>
                </c:pt>
                <c:pt idx="20">
                  <c:v>                    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8110</c:v>
                </c:pt>
                <c:pt idx="1">
                  <c:v>7627</c:v>
                </c:pt>
                <c:pt idx="2">
                  <c:v>7843</c:v>
                </c:pt>
                <c:pt idx="3">
                  <c:v>7267</c:v>
                </c:pt>
                <c:pt idx="4">
                  <c:v>6974</c:v>
                </c:pt>
                <c:pt idx="5">
                  <c:v>6506</c:v>
                </c:pt>
                <c:pt idx="6">
                  <c:v>6511</c:v>
                </c:pt>
                <c:pt idx="7">
                  <c:v>6368</c:v>
                </c:pt>
                <c:pt idx="8">
                  <c:v>4931</c:v>
                </c:pt>
                <c:pt idx="9">
                  <c:v>4713</c:v>
                </c:pt>
                <c:pt idx="10">
                  <c:v>4284</c:v>
                </c:pt>
                <c:pt idx="11">
                  <c:v>4078</c:v>
                </c:pt>
                <c:pt idx="12">
                  <c:v>3666</c:v>
                </c:pt>
                <c:pt idx="13">
                  <c:v>3301</c:v>
                </c:pt>
                <c:pt idx="14">
                  <c:v>3660</c:v>
                </c:pt>
                <c:pt idx="15">
                  <c:v>3369</c:v>
                </c:pt>
                <c:pt idx="16">
                  <c:v>2795</c:v>
                </c:pt>
                <c:pt idx="17">
                  <c:v>3069</c:v>
                </c:pt>
                <c:pt idx="18">
                  <c:v>3537</c:v>
                </c:pt>
                <c:pt idx="19">
                  <c:v>3165</c:v>
                </c:pt>
                <c:pt idx="20">
                  <c:v>2594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 rot="0" vert="horz"/>
          <a:lstStyle/>
          <a:p>
            <a:pPr>
              <a:defRPr sz="1300">
                <a:solidFill>
                  <a:srgbClr val="5B647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50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Profit</c:v>
                </c:pt>
              </c:strCache>
            </c:strRef>
          </c:tx>
          <c:spPr>
            <a:solidFill>
              <a:srgbClr val="D0D5DD"/>
            </a:solidFill>
          </c:spPr>
          <c:dPt>
            <c:idx val="1"/>
            <c:spPr>
              <a:solidFill>
                <a:srgbClr val="1BAF7A"/>
              </a:solidFill>
            </c:spPr>
          </c:dPt>
          <c:cat>
            <c:strRef>
              <c:f>Sheet1!$A$2:$A$6</c:f>
              <c:strCache>
                <c:ptCount val="5"/>
                <c:pt idx="0">
                  <c:v>Colorbuds</c:v>
                </c:pt>
                <c:pt idx="1">
                  <c:v>Playfoam</c:v>
                </c:pt>
                <c:pt idx="2">
                  <c:v>Lego Bricks</c:v>
                </c:pt>
                <c:pt idx="3">
                  <c:v>Action Figure</c:v>
                </c:pt>
                <c:pt idx="4">
                  <c:v>Nerf Gun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30416.0</c:v>
                </c:pt>
                <c:pt idx="1">
                  <c:v>28378.0</c:v>
                </c:pt>
                <c:pt idx="2">
                  <c:v>15625.0</c:v>
                </c:pt>
                <c:pt idx="3">
                  <c:v>13908.0</c:v>
                </c:pt>
                <c:pt idx="4">
                  <c:v>12914.999999999995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2000" b="1">
                  <a:solidFill>
                    <a:srgbClr val="051C2C"/>
                  </a:solidFill>
                  <a:latin typeface="Cambria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0D5DD"/>
            </a:solidFill>
          </a:ln>
        </c:spPr>
        <c:txPr>
          <a:bodyPr/>
          <a:lstStyle/>
          <a:p>
            <a:pPr>
              <a:defRPr sz="1600">
                <a:solidFill>
                  <a:srgbClr val="1B273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70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answer: Colorbuds (our line of kids' wireless earbuds), our #1 profit toy, is in decline. The plan is simple: back newer, higher-margin toys, test one cheap fix for Colorbuds, and review in 8 weeks. Keep the intro under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Colorbuds earned about 28% of Q3 2022 profit and 13% of Q3 2023 profit; it is still our #1 profit toy, so it is fading, not dead. Playfoam launched in mid-August 2023; at its September pace (2,847 units x $7 profit per unit) it earns about $20K a month. Weekly sales have held at roughly 600-720 units for six straight full weeks (no cooling yet); the August-to-September monthly jump is mostly a longer month, so do not call it growth. Colorbuds' monthly profit is about $44K lower than in Jan 2022 ((8,110 - 2,594) units x $8). Profit is estimated from current price and cost, not accounting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Colorbuds units fell from 8,110 (Jan 2022) to 2,594 (Sep 2023), down 68%. The drop is steady and broad: 48 of 50 stores are down (Jan-Sep 2023 vs Jan-Sep 2022), in every store type. All 50 stores carry it and none is at zero stock, so this looks like a demand problem, not a stock problem. Some of the drop is seasonal (company-wide revenue in Sep is about 26% below its peak month) but not most of it. The data cannot say WHY demand fell; no price history, promotions or competitor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likely explanation, not a proven cause. Of the 10 toys that started selling during this data (excluding Playfoam, which is too new), 9 now sell at least 40% less per month than in their peak month. Jenga -92%, Supersoaker -66%, Mr. Potatohead -65%, PlayDoh Playset -64%, Etch A Sketch -56%, Plush Pony -56%, Foam Disk Launcher -54%, Magic Sand -41%, Gamer Headphones -41%; Hot Wheels is the exception at -9%. Caveats: part of each drop is seasonal, and 'launch' means first sale in this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Playfoam launched Aug 17, 2023 and sold 4,158 units in about six weeks (1,311 in August from the 17th, 2,847 in September). Playfoam earned about $27K in its first 42 days, more than any of the 10 other toys launched in this data (next best: Etch A Sketch, about $20K, which later fell 56% from its peak, so a strong start is not proof of staying power). Estimated profit, first six full weeks (Aug 20 - Sep 30): Playfoam $28K vs Colorbuds $30K, #2 of 35 toys, and #1 in 2 of the 6 weeks. Weekly units were flat at about 680 ([718, 722, 646, 688, 679, 601]): steady, not rising or fading yet. It earns $7 per unit at a 64% margin, about $20K a month at the September pace. It is at zero stock in 13 stores; each store sells about 57 units a month, so empty shelves cost roughly $5K a month. It was the #5 profit toy in Q3 2023 despite only ~6 weeks on sale. Be honest: hot now, likely to cool (see the previous slide). Only six weeks of data; the $20K is a run-rate,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Keep Playfoam in stock: refill the 13 stores that have zero, and keep every store above about two weeks of sales (roughly 26 units a store); check weekly. Each store sells about 57 Playfoam units a month at $7 profit, so 13 stores is about $5K a month. 2) Test a Colorbuds fix: the options to try are new colors, a bundle with Gamer Headphones, or a better shelf spot. Run it in 10 stores and compare against 10 similar stores that change nothing, for about six weeks, so we learn what works before spending chain-wide. Winning back a quarter of the lost sales (about $44K a month lost, so about $11K) is the prize if it works. 3) Review at week 8: if the pilot stores sold about 15% more Colorbuds than the comparison stores, scale the fix; if not, stop. Also check whether Playfoam is holding its weekly sales, and pick the next newer, higher-margin toy to back. The 15% threshold is a suggestion to agree on in advance, not something from the data. Sizes are estimates; the data cannot show why Colorbuds fell.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C2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rk 1"/>
          <p:cNvSpPr/>
          <p:nvPr/>
        </p:nvSpPr>
        <p:spPr>
          <a:xfrm>
            <a:off x="548640" y="566928"/>
            <a:ext cx="128016" cy="128016"/>
          </a:xfrm>
          <a:prstGeom prst="rect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Mark 2"/>
          <p:cNvSpPr/>
          <p:nvPr/>
        </p:nvSpPr>
        <p:spPr>
          <a:xfrm>
            <a:off x="731520" y="566928"/>
            <a:ext cx="128016" cy="128016"/>
          </a:xfrm>
          <a:prstGeom prst="rect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Mark 3"/>
          <p:cNvSpPr/>
          <p:nvPr/>
        </p:nvSpPr>
        <p:spPr>
          <a:xfrm>
            <a:off x="914400" y="566928"/>
            <a:ext cx="128016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Wordmark"/>
          <p:cNvSpPr txBox="1"/>
          <p:nvPr/>
        </p:nvSpPr>
        <p:spPr>
          <a:xfrm>
            <a:off x="1280160" y="475488"/>
            <a:ext cx="3657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MAVEN TOYS</a:t>
            </a:r>
          </a:p>
        </p:txBody>
      </p:sp>
      <p:sp>
        <p:nvSpPr>
          <p:cNvPr id="6" name="Image panel"/>
          <p:cNvSpPr/>
          <p:nvPr/>
        </p:nvSpPr>
        <p:spPr>
          <a:xfrm>
            <a:off x="7772400" y="1371600"/>
            <a:ext cx="3867912" cy="38679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Colorbuds illustration" descr="Illustration of Colorbuds: two colorful earbuds in an open charging case with a hear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79" y="1554480"/>
            <a:ext cx="3502152" cy="3502152"/>
          </a:xfrm>
          <a:prstGeom prst="rect">
            <a:avLst/>
          </a:prstGeom>
        </p:spPr>
      </p:pic>
      <p:sp>
        <p:nvSpPr>
          <p:cNvPr id="8" name="Title"/>
          <p:cNvSpPr txBox="1"/>
          <p:nvPr/>
        </p:nvSpPr>
        <p:spPr>
          <a:xfrm>
            <a:off x="548640" y="1463040"/>
            <a:ext cx="7223760" cy="24688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Colorbuds, our #1 profit toy,</a:t>
            </a:r>
            <a:br/>
            <a:r>
              <a:rPr sz="4000" b="1">
                <a:solidFill>
                  <a:srgbClr val="FFFFFF"/>
                </a:solidFill>
                <a:latin typeface="Cambria"/>
              </a:rPr>
              <a:t>is in decline</a:t>
            </a:r>
          </a:p>
        </p:txBody>
      </p:sp>
      <p:sp>
        <p:nvSpPr>
          <p:cNvPr id="9" name="Subtitle"/>
          <p:cNvSpPr txBox="1"/>
          <p:nvPr/>
        </p:nvSpPr>
        <p:spPr>
          <a:xfrm>
            <a:off x="548640" y="4160520"/>
            <a:ext cx="6949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D6E0EE"/>
                </a:solidFill>
                <a:latin typeface="Calibri"/>
              </a:rPr>
              <a:t>A plan to protect profit by backing newer, higher-margin toys</a:t>
            </a:r>
          </a:p>
        </p:txBody>
      </p:sp>
      <p:sp>
        <p:nvSpPr>
          <p:cNvPr id="10" name="Date line"/>
          <p:cNvSpPr txBox="1"/>
          <p:nvPr/>
        </p:nvSpPr>
        <p:spPr>
          <a:xfrm>
            <a:off x="548640" y="6172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A9B8CC"/>
                </a:solidFill>
                <a:latin typeface="Calibri"/>
              </a:rPr>
              <a:t>Business review  |  Data through Sep 30, 2023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Our top profit toy is fading, and a newer toy is already making up part of the gap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2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anel label 1"/>
          <p:cNvSpPr txBox="1"/>
          <p:nvPr/>
        </p:nvSpPr>
        <p:spPr>
          <a:xfrm>
            <a:off x="914400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COLORBUDS' SHARE OF QUARTERLY PROFIT</a:t>
            </a:r>
          </a:p>
        </p:txBody>
      </p:sp>
      <p:sp>
        <p:nvSpPr>
          <p:cNvPr id="7" name="Big number 1"/>
          <p:cNvSpPr txBox="1"/>
          <p:nvPr/>
        </p:nvSpPr>
        <p:spPr>
          <a:xfrm>
            <a:off x="914400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D6336C"/>
                </a:solidFill>
                <a:latin typeface="Cambria"/>
              </a:rPr>
              <a:t>28% → 13%</a:t>
            </a:r>
          </a:p>
        </p:txBody>
      </p:sp>
      <p:sp>
        <p:nvSpPr>
          <p:cNvPr id="8" name="Caption 1"/>
          <p:cNvSpPr txBox="1"/>
          <p:nvPr/>
        </p:nvSpPr>
        <p:spPr>
          <a:xfrm>
            <a:off x="914400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Q3 2022 to Q3 2023</a:t>
            </a:r>
          </a:p>
        </p:txBody>
      </p:sp>
      <p:sp>
        <p:nvSpPr>
          <p:cNvPr id="9" name="Panel 2"/>
          <p:cNvSpPr/>
          <p:nvPr/>
        </p:nvSpPr>
        <p:spPr>
          <a:xfrm>
            <a:off x="6278727" y="1691640"/>
            <a:ext cx="5364327" cy="25146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anel label 2"/>
          <p:cNvSpPr txBox="1"/>
          <p:nvPr/>
        </p:nvSpPr>
        <p:spPr>
          <a:xfrm>
            <a:off x="6644487" y="1920240"/>
            <a:ext cx="4632807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PLAYFOAM'S RANK AMONG ALL TOYS BY PROFIT</a:t>
            </a:r>
          </a:p>
        </p:txBody>
      </p:sp>
      <p:sp>
        <p:nvSpPr>
          <p:cNvPr id="11" name="Big number 2"/>
          <p:cNvSpPr txBox="1"/>
          <p:nvPr/>
        </p:nvSpPr>
        <p:spPr>
          <a:xfrm>
            <a:off x="6644487" y="2331720"/>
            <a:ext cx="4632807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600" b="1">
                <a:solidFill>
                  <a:srgbClr val="0E8F63"/>
                </a:solidFill>
                <a:latin typeface="Cambria"/>
              </a:rPr>
              <a:t>#2 of 35</a:t>
            </a:r>
          </a:p>
        </p:txBody>
      </p:sp>
      <p:sp>
        <p:nvSpPr>
          <p:cNvPr id="12" name="Caption 2"/>
          <p:cNvSpPr txBox="1"/>
          <p:nvPr/>
        </p:nvSpPr>
        <p:spPr>
          <a:xfrm>
            <a:off x="6644487" y="3611880"/>
            <a:ext cx="4632807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5B6470"/>
                </a:solidFill>
                <a:latin typeface="Calibri"/>
              </a:rPr>
              <a:t>Behind only Colorbuds, in its first six full weeks on sale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548640" y="4526280"/>
            <a:ext cx="11094415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Colorbuds is still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#1 profit toy</a:t>
            </a:r>
            <a:r>
              <a:rPr sz="2000" b="0">
                <a:solidFill>
                  <a:srgbClr val="1B2733"/>
                </a:solidFill>
                <a:latin typeface="Calibri"/>
              </a:rPr>
              <a:t>, but its share has </a:t>
            </a:r>
            <a:r>
              <a:rPr sz="2000" b="1">
                <a:solidFill>
                  <a:srgbClr val="1B2733"/>
                </a:solidFill>
                <a:latin typeface="Calibri"/>
              </a:rPr>
              <a:t>more than halved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is our </a:t>
            </a:r>
            <a:r>
              <a:rPr sz="2000" b="1">
                <a:solidFill>
                  <a:srgbClr val="1B2733"/>
                </a:solidFill>
                <a:latin typeface="Calibri"/>
              </a:rPr>
              <a:t>strongest launch yet</a:t>
            </a:r>
            <a:r>
              <a:rPr sz="2000" b="0">
                <a:solidFill>
                  <a:srgbClr val="1B2733"/>
                </a:solidFill>
                <a:latin typeface="Calibri"/>
              </a:rPr>
              <a:t>: #2 in profit after six weeks, ahead of all 10 other new toys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Playfoam earns about </a:t>
            </a:r>
            <a:r>
              <a:rPr sz="2000" b="1">
                <a:solidFill>
                  <a:srgbClr val="1B2733"/>
                </a:solidFill>
                <a:latin typeface="Calibri"/>
              </a:rPr>
              <a:t>$20K a month</a:t>
            </a:r>
            <a:r>
              <a:rPr sz="2000" b="0">
                <a:solidFill>
                  <a:srgbClr val="1B2733"/>
                </a:solidFill>
                <a:latin typeface="Calibri"/>
              </a:rPr>
              <a:t>, nearly half of the $44K Colorbuds has lost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Colorbuds sales have fallen 68% since January 2022, across almost every store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3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COLORBUDS UNITS SOLD PER MONTH</a:t>
            </a:r>
          </a:p>
        </p:txBody>
      </p:sp>
      <p:graphicFrame>
        <p:nvGraphicFramePr>
          <p:cNvPr id="6" name="Colorbuds monthly units"/>
          <p:cNvGraphicFramePr>
            <a:graphicFrameLocks noGrp="1"/>
          </p:cNvGraphicFramePr>
          <p:nvPr/>
        </p:nvGraphicFramePr>
        <p:xfrm>
          <a:off x="548640" y="2011680"/>
          <a:ext cx="72237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akeaways panel"/>
          <p:cNvSpPr/>
          <p:nvPr/>
        </p:nvSpPr>
        <p:spPr>
          <a:xfrm>
            <a:off x="8183879" y="1691640"/>
            <a:ext cx="3459175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akeaways label"/>
          <p:cNvSpPr txBox="1"/>
          <p:nvPr/>
        </p:nvSpPr>
        <p:spPr>
          <a:xfrm>
            <a:off x="8503920" y="19202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WHAT WE SEE</a:t>
            </a:r>
          </a:p>
        </p:txBody>
      </p:sp>
      <p:sp>
        <p:nvSpPr>
          <p:cNvPr id="9" name="Key points"/>
          <p:cNvSpPr txBox="1"/>
          <p:nvPr/>
        </p:nvSpPr>
        <p:spPr>
          <a:xfrm>
            <a:off x="8503920" y="2377440"/>
            <a:ext cx="2880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Down in </a:t>
            </a:r>
            <a:r>
              <a:rPr sz="1800" b="1">
                <a:solidFill>
                  <a:srgbClr val="1B2733"/>
                </a:solidFill>
                <a:latin typeface="Calibri"/>
              </a:rPr>
              <a:t>48 of 50 stores</a:t>
            </a:r>
            <a:r>
              <a:rPr sz="1800" b="0">
                <a:solidFill>
                  <a:srgbClr val="1B2733"/>
                </a:solidFill>
                <a:latin typeface="Calibri"/>
              </a:rPr>
              <a:t>, in every store type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Every store still carries it, so this is </a:t>
            </a:r>
            <a:r>
              <a:rPr sz="1800" b="1">
                <a:solidFill>
                  <a:srgbClr val="1B2733"/>
                </a:solidFill>
                <a:latin typeface="Calibri"/>
              </a:rPr>
              <a:t>weaker demand, not empty shelves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Quarterly profit has </a:t>
            </a:r>
            <a:r>
              <a:rPr sz="1800" b="1">
                <a:solidFill>
                  <a:srgbClr val="1B2733"/>
                </a:solidFill>
                <a:latin typeface="Calibri"/>
              </a:rPr>
              <a:t>roughly halved</a:t>
            </a:r>
            <a:r>
              <a:rPr sz="1800" b="0">
                <a:solidFill>
                  <a:srgbClr val="1B2733"/>
                </a:solidFill>
                <a:latin typeface="Calibri"/>
              </a:rPr>
              <a:t>: $142K to $74K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Fading is normal for our toys: 9 of 10 recent launches are 40%+ below their peak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4</a:t>
            </a:r>
          </a:p>
        </p:txBody>
      </p:sp>
      <p:sp>
        <p:nvSpPr>
          <p:cNvPr id="5" name="Stat panel"/>
          <p:cNvSpPr/>
          <p:nvPr/>
        </p:nvSpPr>
        <p:spPr>
          <a:xfrm>
            <a:off x="548640" y="1691640"/>
            <a:ext cx="5852160" cy="44805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ig number"/>
          <p:cNvSpPr txBox="1"/>
          <p:nvPr/>
        </p:nvSpPr>
        <p:spPr>
          <a:xfrm>
            <a:off x="914400" y="1965960"/>
            <a:ext cx="512064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800" b="1">
                <a:solidFill>
                  <a:srgbClr val="D9531E"/>
                </a:solidFill>
                <a:latin typeface="Cambria"/>
              </a:rPr>
              <a:t>9 of 10</a:t>
            </a:r>
          </a:p>
        </p:txBody>
      </p:sp>
      <p:sp>
        <p:nvSpPr>
          <p:cNvPr id="7" name="Caption"/>
          <p:cNvSpPr txBox="1"/>
          <p:nvPr/>
        </p:nvSpPr>
        <p:spPr>
          <a:xfrm>
            <a:off x="914400" y="361188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51C2C"/>
                </a:solidFill>
                <a:latin typeface="Calibri"/>
              </a:rPr>
              <a:t>recent launches are </a:t>
            </a:r>
            <a:r>
              <a:rPr sz="2200" b="1">
                <a:solidFill>
                  <a:srgbClr val="051C2C"/>
                </a:solidFill>
                <a:latin typeface="Calibri"/>
              </a:rPr>
              <a:t>40%+ below their peak month</a:t>
            </a:r>
          </a:p>
        </p:txBody>
      </p:sp>
      <p:sp>
        <p:nvSpPr>
          <p:cNvPr id="8" name="Toy marker 1"/>
          <p:cNvSpPr/>
          <p:nvPr/>
        </p:nvSpPr>
        <p:spPr>
          <a:xfrm>
            <a:off x="91440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oy marker 2"/>
          <p:cNvSpPr/>
          <p:nvPr/>
        </p:nvSpPr>
        <p:spPr>
          <a:xfrm>
            <a:off x="140817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oy marker 3"/>
          <p:cNvSpPr/>
          <p:nvPr/>
        </p:nvSpPr>
        <p:spPr>
          <a:xfrm>
            <a:off x="190195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oy marker 4"/>
          <p:cNvSpPr/>
          <p:nvPr/>
        </p:nvSpPr>
        <p:spPr>
          <a:xfrm>
            <a:off x="239572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oy marker 5"/>
          <p:cNvSpPr/>
          <p:nvPr/>
        </p:nvSpPr>
        <p:spPr>
          <a:xfrm>
            <a:off x="2889504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oy marker 6"/>
          <p:cNvSpPr/>
          <p:nvPr/>
        </p:nvSpPr>
        <p:spPr>
          <a:xfrm>
            <a:off x="3383280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oy marker 7"/>
          <p:cNvSpPr/>
          <p:nvPr/>
        </p:nvSpPr>
        <p:spPr>
          <a:xfrm>
            <a:off x="3877056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y marker 8"/>
          <p:cNvSpPr/>
          <p:nvPr/>
        </p:nvSpPr>
        <p:spPr>
          <a:xfrm>
            <a:off x="4370832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oy marker 9"/>
          <p:cNvSpPr/>
          <p:nvPr/>
        </p:nvSpPr>
        <p:spPr>
          <a:xfrm>
            <a:off x="4864608" y="4983480"/>
            <a:ext cx="384048" cy="38404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oy marker 10"/>
          <p:cNvSpPr/>
          <p:nvPr/>
        </p:nvSpPr>
        <p:spPr>
          <a:xfrm>
            <a:off x="5358384" y="4983480"/>
            <a:ext cx="384048" cy="384048"/>
          </a:xfrm>
          <a:prstGeom prst="rect">
            <a:avLst/>
          </a:prstGeom>
          <a:solidFill>
            <a:srgbClr val="D0D5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Examples label"/>
          <p:cNvSpPr txBox="1"/>
          <p:nvPr/>
        </p:nvSpPr>
        <p:spPr>
          <a:xfrm>
            <a:off x="676656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EXAMPLES</a:t>
            </a:r>
          </a:p>
        </p:txBody>
      </p:sp>
      <p:sp>
        <p:nvSpPr>
          <p:cNvPr id="19" name="Key points"/>
          <p:cNvSpPr txBox="1"/>
          <p:nvPr/>
        </p:nvSpPr>
        <p:spPr>
          <a:xfrm>
            <a:off x="6766560" y="2240280"/>
            <a:ext cx="4876495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Jenga peaked in Jul 2022 and is now down 92%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Etch A Sketch peaked its second month and is down 56%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0">
                <a:solidFill>
                  <a:srgbClr val="1B2733"/>
                </a:solidFill>
                <a:latin typeface="Calibri"/>
              </a:rPr>
              <a:t>Mr. Potatohead peaked in Nov 2022 and is now down 65%</a:t>
            </a:r>
          </a:p>
          <a:p>
            <a:pPr marL="285750" indent="-285750">
              <a:spcAft>
                <a:spcPts val="1600"/>
              </a:spcAft>
              <a:buClr>
                <a:srgbClr val="2A78D6"/>
              </a:buClr>
              <a:buFont typeface="Arial"/>
              <a:buChar char="•"/>
            </a:pPr>
            <a:r>
              <a:rPr sz="2000" b="1">
                <a:solidFill>
                  <a:srgbClr val="1B2733"/>
                </a:solidFill>
                <a:latin typeface="Calibri"/>
              </a:rPr>
              <a:t>Colorbuds is following the same trend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Playfoam is the early bright spot, but 13 empty stores are costing us about $5K a month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5</a:t>
            </a:r>
          </a:p>
        </p:txBody>
      </p:sp>
      <p:sp>
        <p:nvSpPr>
          <p:cNvPr id="5" name="Chart label"/>
          <p:cNvSpPr txBox="1"/>
          <p:nvPr/>
        </p:nvSpPr>
        <p:spPr>
          <a:xfrm>
            <a:off x="548640" y="16916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5B6470"/>
                </a:solidFill>
                <a:latin typeface="Calibri"/>
              </a:rPr>
              <a:t>ESTIMATED PROFIT BY TOY, LAST SIX FULL WEEKS (AUG 20 - SEP 30)</a:t>
            </a:r>
          </a:p>
        </p:txBody>
      </p:sp>
      <p:graphicFrame>
        <p:nvGraphicFramePr>
          <p:cNvPr id="6" name="Top 5 toys by profit since Playfoam launched"/>
          <p:cNvGraphicFramePr>
            <a:graphicFrameLocks noGrp="1"/>
          </p:cNvGraphicFramePr>
          <p:nvPr/>
        </p:nvGraphicFramePr>
        <p:xfrm>
          <a:off x="548640" y="2011680"/>
          <a:ext cx="585216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tat panel 1"/>
          <p:cNvSpPr/>
          <p:nvPr/>
        </p:nvSpPr>
        <p:spPr>
          <a:xfrm>
            <a:off x="6858000" y="169164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tat title 1"/>
          <p:cNvSpPr txBox="1"/>
          <p:nvPr/>
        </p:nvSpPr>
        <p:spPr>
          <a:xfrm>
            <a:off x="7132320" y="187452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0E8F63"/>
                </a:solidFill>
                <a:latin typeface="Cambria"/>
              </a:rPr>
              <a:t>64% margin</a:t>
            </a:r>
          </a:p>
        </p:txBody>
      </p:sp>
      <p:sp>
        <p:nvSpPr>
          <p:cNvPr id="9" name="Stat note 1"/>
          <p:cNvSpPr txBox="1"/>
          <p:nvPr/>
        </p:nvSpPr>
        <p:spPr>
          <a:xfrm>
            <a:off x="7132320" y="249631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$7 profit on every unit</a:t>
            </a:r>
          </a:p>
        </p:txBody>
      </p:sp>
      <p:sp>
        <p:nvSpPr>
          <p:cNvPr id="10" name="Stat panel 2"/>
          <p:cNvSpPr/>
          <p:nvPr/>
        </p:nvSpPr>
        <p:spPr>
          <a:xfrm>
            <a:off x="6858000" y="3154680"/>
            <a:ext cx="4785055" cy="128016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at title 2"/>
          <p:cNvSpPr txBox="1"/>
          <p:nvPr/>
        </p:nvSpPr>
        <p:spPr>
          <a:xfrm>
            <a:off x="7132320" y="3337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D9531E"/>
                </a:solidFill>
                <a:latin typeface="Cambria"/>
              </a:rPr>
              <a:t>13 stores out of stock</a:t>
            </a:r>
          </a:p>
        </p:txBody>
      </p:sp>
      <p:sp>
        <p:nvSpPr>
          <p:cNvPr id="12" name="Stat note 2"/>
          <p:cNvSpPr txBox="1"/>
          <p:nvPr/>
        </p:nvSpPr>
        <p:spPr>
          <a:xfrm>
            <a:off x="7132320" y="395935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B2733"/>
                </a:solidFill>
                <a:latin typeface="Calibri"/>
              </a:rPr>
              <a:t>about $5K a month left on the table</a:t>
            </a:r>
          </a:p>
        </p:txBody>
      </p:sp>
      <p:sp>
        <p:nvSpPr>
          <p:cNvPr id="13" name="Key points"/>
          <p:cNvSpPr txBox="1"/>
          <p:nvPr/>
        </p:nvSpPr>
        <p:spPr>
          <a:xfrm>
            <a:off x="6858000" y="4663440"/>
            <a:ext cx="478505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1">
                <a:solidFill>
                  <a:srgbClr val="1B2733"/>
                </a:solidFill>
                <a:latin typeface="Calibri"/>
              </a:rPr>
              <a:t>#1 profit toy in 2 of 6 weeks</a:t>
            </a:r>
            <a:r>
              <a:rPr sz="1800" b="0">
                <a:solidFill>
                  <a:srgbClr val="1B2733"/>
                </a:solidFill>
                <a:latin typeface="Calibri"/>
              </a:rPr>
              <a:t>, ahead of Colorbuds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 b="0">
                <a:solidFill>
                  <a:srgbClr val="1B2733"/>
                </a:solidFill>
                <a:latin typeface="Calibri"/>
              </a:rPr>
              <a:t>New toys often cool off, so </a:t>
            </a:r>
            <a:r>
              <a:rPr sz="1800" b="1">
                <a:solidFill>
                  <a:srgbClr val="1B2733"/>
                </a:solidFill>
                <a:latin typeface="Calibri"/>
              </a:rPr>
              <a:t>the window to act is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57200"/>
            <a:ext cx="110944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051C2C"/>
                </a:solidFill>
                <a:latin typeface="Cambria"/>
              </a:rPr>
              <a:t>Next 8 weeks: keep Playfoam on shelves, test a Colorbuds fix, then back what works</a:t>
            </a:r>
          </a:p>
        </p:txBody>
      </p:sp>
      <p:sp>
        <p:nvSpPr>
          <p:cNvPr id="3" name="Source"/>
          <p:cNvSpPr txBox="1"/>
          <p:nvPr/>
        </p:nvSpPr>
        <p:spPr>
          <a:xfrm>
            <a:off x="54864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B647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4" name="Page"/>
          <p:cNvSpPr txBox="1"/>
          <p:nvPr/>
        </p:nvSpPr>
        <p:spPr>
          <a:xfrm>
            <a:off x="9326880" y="6382512"/>
            <a:ext cx="231617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B6470"/>
                </a:solidFill>
                <a:latin typeface="Calibri"/>
              </a:rPr>
              <a:t>Maven Toys   |   6</a:t>
            </a:r>
          </a:p>
        </p:txBody>
      </p:sp>
      <p:sp>
        <p:nvSpPr>
          <p:cNvPr id="5" name="Panel 1"/>
          <p:cNvSpPr/>
          <p:nvPr/>
        </p:nvSpPr>
        <p:spPr>
          <a:xfrm>
            <a:off x="548640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Number 1"/>
          <p:cNvSpPr/>
          <p:nvPr/>
        </p:nvSpPr>
        <p:spPr>
          <a:xfrm>
            <a:off x="914400" y="1920240"/>
            <a:ext cx="548640" cy="548640"/>
          </a:xfrm>
          <a:prstGeom prst="rect">
            <a:avLst/>
          </a:prstGeom>
          <a:solidFill>
            <a:srgbClr val="0E8F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7" name="Step 1"/>
          <p:cNvSpPr txBox="1"/>
          <p:nvPr/>
        </p:nvSpPr>
        <p:spPr>
          <a:xfrm>
            <a:off x="914400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Restock Playfoam</a:t>
            </a:r>
          </a:p>
        </p:txBody>
      </p:sp>
      <p:sp>
        <p:nvSpPr>
          <p:cNvPr id="8" name="Goal 1"/>
          <p:cNvSpPr txBox="1"/>
          <p:nvPr/>
        </p:nvSpPr>
        <p:spPr>
          <a:xfrm>
            <a:off x="914400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E8F63"/>
                </a:solidFill>
                <a:latin typeface="Calibri"/>
              </a:rPr>
              <a:t>Goal: stop losing Playfoam sales to empty shelves</a:t>
            </a:r>
          </a:p>
        </p:txBody>
      </p:sp>
      <p:sp>
        <p:nvSpPr>
          <p:cNvPr id="9" name="Step 1 details"/>
          <p:cNvSpPr txBox="1"/>
          <p:nvPr/>
        </p:nvSpPr>
        <p:spPr>
          <a:xfrm>
            <a:off x="914400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Refill the 13 stores that have none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That adds about $5K in profit every month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stock every week</a:t>
            </a:r>
          </a:p>
        </p:txBody>
      </p:sp>
      <p:sp>
        <p:nvSpPr>
          <p:cNvPr id="10" name="Panel 2"/>
          <p:cNvSpPr/>
          <p:nvPr/>
        </p:nvSpPr>
        <p:spPr>
          <a:xfrm>
            <a:off x="4338218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Number 2"/>
          <p:cNvSpPr/>
          <p:nvPr/>
        </p:nvSpPr>
        <p:spPr>
          <a:xfrm>
            <a:off x="4703978" y="1920240"/>
            <a:ext cx="548640" cy="548640"/>
          </a:xfrm>
          <a:prstGeom prst="rect">
            <a:avLst/>
          </a:prstGeom>
          <a:solidFill>
            <a:srgbClr val="D63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2" name="Step 2"/>
          <p:cNvSpPr txBox="1"/>
          <p:nvPr/>
        </p:nvSpPr>
        <p:spPr>
          <a:xfrm>
            <a:off x="4703978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Test a Colorbuds fix</a:t>
            </a:r>
          </a:p>
        </p:txBody>
      </p:sp>
      <p:sp>
        <p:nvSpPr>
          <p:cNvPr id="13" name="Goal 2"/>
          <p:cNvSpPr txBox="1"/>
          <p:nvPr/>
        </p:nvSpPr>
        <p:spPr>
          <a:xfrm>
            <a:off x="4703978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D6336C"/>
                </a:solidFill>
                <a:latin typeface="Calibri"/>
              </a:rPr>
              <a:t>Goal: win back some of the lost Colorbuds sales</a:t>
            </a:r>
          </a:p>
        </p:txBody>
      </p:sp>
      <p:sp>
        <p:nvSpPr>
          <p:cNvPr id="14" name="Step 2 details"/>
          <p:cNvSpPr txBox="1"/>
          <p:nvPr/>
        </p:nvSpPr>
        <p:spPr>
          <a:xfrm>
            <a:off x="4703978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Try new colors, a bundle with Gamer Headphones, or a better shelf spot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Test it in 10 stores, against 10 similar stores that change nothing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Winning back a quarter of the lost sales adds $11K profit a month</a:t>
            </a:r>
          </a:p>
        </p:txBody>
      </p:sp>
      <p:sp>
        <p:nvSpPr>
          <p:cNvPr id="15" name="Panel 3"/>
          <p:cNvSpPr/>
          <p:nvPr/>
        </p:nvSpPr>
        <p:spPr>
          <a:xfrm>
            <a:off x="8127796" y="1691640"/>
            <a:ext cx="3515258" cy="457200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umber 3"/>
          <p:cNvSpPr/>
          <p:nvPr/>
        </p:nvSpPr>
        <p:spPr>
          <a:xfrm>
            <a:off x="8493556" y="1920240"/>
            <a:ext cx="548640" cy="54864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7" name="Step 3"/>
          <p:cNvSpPr txBox="1"/>
          <p:nvPr/>
        </p:nvSpPr>
        <p:spPr>
          <a:xfrm>
            <a:off x="8493556" y="2606040"/>
            <a:ext cx="278373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51C2C"/>
                </a:solidFill>
                <a:latin typeface="Cambria"/>
              </a:rPr>
              <a:t>Review in 8 weeks</a:t>
            </a:r>
          </a:p>
        </p:txBody>
      </p:sp>
      <p:sp>
        <p:nvSpPr>
          <p:cNvPr id="18" name="Goal 3"/>
          <p:cNvSpPr txBox="1"/>
          <p:nvPr/>
        </p:nvSpPr>
        <p:spPr>
          <a:xfrm>
            <a:off x="8493556" y="3108960"/>
            <a:ext cx="2783738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A78D6"/>
                </a:solidFill>
                <a:latin typeface="Calibri"/>
              </a:rPr>
              <a:t>Goal: put effort behind what works</a:t>
            </a:r>
          </a:p>
        </p:txBody>
      </p:sp>
      <p:sp>
        <p:nvSpPr>
          <p:cNvPr id="19" name="Step 3 details"/>
          <p:cNvSpPr txBox="1"/>
          <p:nvPr/>
        </p:nvSpPr>
        <p:spPr>
          <a:xfrm>
            <a:off x="8493556" y="3703320"/>
            <a:ext cx="2783738" cy="2468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Roll out the Colorbuds fix if the test stores sold 15% more, otherwise drop it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Check whether Playfoam is holding up or cooling off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500" b="0">
                <a:solidFill>
                  <a:srgbClr val="1B2733"/>
                </a:solidFill>
                <a:latin typeface="Calibri"/>
              </a:rPr>
              <a:t>Pick the next higher-margin toy to 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Our #1 profit toy, Colorbuds, is in decline</dc:title>
  <dc:subject>Business review</dc:subject>
  <dc:creator>Maven Toys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